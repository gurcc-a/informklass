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italic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2000" y="1883122"/>
            <a:ext cx="2637085" cy="285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436" y="1883122"/>
            <a:ext cx="389568" cy="311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359372"/>
            <a:ext cx="99012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1" i="0" u="none">
                <a:solidFill>
                  <a:srgbClr val="FFFFFF"/>
                </a:solidFill>
                <a:latin typeface="Space Grotesk"/>
              </a:rPr>
              <a:t>Світ інформації: таємниці повідомлень, фактів і медіа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84252"/>
            <a:ext cx="904875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Як ми бачимо, чуємо та створюємо інформацію щодня навколо нас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1940272"/>
            <a:ext cx="246563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1B4B"/>
                </a:solidFill>
                <a:latin typeface="Plus Jakarta Sans"/>
              </a:rPr>
              <a:t>⚡ 5–6 КЛАС • МЕДІАГРАМОТНІСТЬ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09862"/>
            <a:ext cx="3403550" cy="255270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90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709862"/>
            <a:ext cx="3403550" cy="255270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90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709862"/>
            <a:ext cx="3403550" cy="255270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9050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033712"/>
            <a:ext cx="552450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00" y="3033712"/>
            <a:ext cx="55245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50" y="3033712"/>
            <a:ext cx="552450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3186112"/>
            <a:ext cx="2476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062" y="3186112"/>
            <a:ext cx="3143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550" y="3186112"/>
            <a:ext cx="2476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💡 ПРОСТИМИ СЛОВАМИ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Що ж таке інформація?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776662"/>
            <a:ext cx="36170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Звідки слово?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167187"/>
            <a:ext cx="285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Латинське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informatio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означає «роз’яснення», «відомості» або цікаву розповідь.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000" y="3776662"/>
            <a:ext cx="36170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Це все навколо!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000" y="4167187"/>
            <a:ext cx="285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Смс від друга, дзвінок на урок, рахунок гри, підказка на карті чи нова серія мультика.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150" y="3776662"/>
            <a:ext cx="361705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Знання в голові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150" y="4167187"/>
            <a:ext cx="285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Будь-які факти та відкриття, які роблять нас розумнішими й допомагають діяти.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81337"/>
            <a:ext cx="2524125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3081337"/>
            <a:ext cx="2524125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81350"/>
            <a:ext cx="2524125" cy="1609725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3081337"/>
            <a:ext cx="2524125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081337"/>
            <a:ext cx="2524125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6625" y="3081337"/>
            <a:ext cx="2524125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3181350"/>
            <a:ext cx="25241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05875" y="3081337"/>
            <a:ext cx="2524125" cy="571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3405187"/>
            <a:ext cx="3048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340518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3505200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487" y="3405187"/>
            <a:ext cx="3429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🎭 НАШІ РОЛІ ЩОДНЯ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Хто ми в інформаційному світі?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36" y="3900487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Отримувач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609" y="4224337"/>
            <a:ext cx="267890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Почув дзвінок будильника зранку.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2261" y="3900487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Споживач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9234" y="4224337"/>
            <a:ext cx="267890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Прочитав параграф і зрозумів тему.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6886" y="4000500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Творець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3859" y="4324350"/>
            <a:ext cx="2678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Зняв відео або написав твір.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1511" y="3900487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Передавач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8484" y="4224337"/>
            <a:ext cx="267890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Переслав смішний мем однокласникам.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05150"/>
            <a:ext cx="2011709" cy="1724025"/>
          </a:xfrm>
          <a:prstGeom prst="roundRect">
            <a:avLst>
              <a:gd name="adj" fmla="val 1104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26109" y="3105150"/>
            <a:ext cx="2011709" cy="1724025"/>
          </a:xfrm>
          <a:prstGeom prst="roundRect">
            <a:avLst>
              <a:gd name="adj" fmla="val 1104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90219" y="3019425"/>
            <a:ext cx="2011709" cy="1895475"/>
          </a:xfrm>
          <a:prstGeom prst="roundRect">
            <a:avLst>
              <a:gd name="adj" fmla="val 1005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54329" y="3105150"/>
            <a:ext cx="2011709" cy="1724025"/>
          </a:xfrm>
          <a:prstGeom prst="roundRect">
            <a:avLst>
              <a:gd name="adj" fmla="val 1104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439" y="3105150"/>
            <a:ext cx="2011709" cy="1724025"/>
          </a:xfrm>
          <a:prstGeom prst="roundRect">
            <a:avLst>
              <a:gd name="adj" fmla="val 1104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366F1"/>
                </a:solidFill>
                <a:latin typeface="Plus Jakarta Sans"/>
              </a:rPr>
              <a:t>👀 НАШІ ПРИРОДНІ РАДАРИ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Як ми зчитуємо навколишній світ?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48" y="3352800"/>
            <a:ext cx="20860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0F172A"/>
                </a:solidFill>
                <a:latin typeface="Plus Jakarta Sans"/>
              </a:rPr>
              <a:t>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698" y="3905250"/>
            <a:ext cx="219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Очі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848" y="4191000"/>
            <a:ext cx="2086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366F1"/>
                </a:solidFill>
                <a:latin typeface="Plus Jakarta Sans"/>
              </a:rPr>
              <a:t>90% даних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848" y="4410075"/>
            <a:ext cx="20860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Кольори, форми, рух.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8958" y="3352800"/>
            <a:ext cx="20860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0F172A"/>
                </a:solidFill>
                <a:latin typeface="Plus Jakarta Sans"/>
              </a:rPr>
              <a:t>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808" y="3905250"/>
            <a:ext cx="219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Вуха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8958" y="4191000"/>
            <a:ext cx="2086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Звуки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8958" y="4410075"/>
            <a:ext cx="20860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Голос, треки, сирени.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3068" y="3267075"/>
            <a:ext cx="20860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0F172A"/>
                </a:solidFill>
                <a:latin typeface="Plus Jakarta Sans"/>
              </a:rPr>
              <a:t>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918" y="3819525"/>
            <a:ext cx="219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Шкіра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3068" y="4105275"/>
            <a:ext cx="2086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Дотик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3068" y="4324350"/>
            <a:ext cx="20860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Гаряче, холодне, гладеньке.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7178" y="3352800"/>
            <a:ext cx="20860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0F172A"/>
                </a:solidFill>
                <a:latin typeface="Plus Jakarta Sans"/>
              </a:rPr>
              <a:t>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5027" y="3905250"/>
            <a:ext cx="219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Ніс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7178" y="4191000"/>
            <a:ext cx="2086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C4899"/>
                </a:solidFill>
                <a:latin typeface="Plus Jakarta Sans"/>
              </a:rPr>
              <a:t>Запахи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7178" y="4410075"/>
            <a:ext cx="20860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Аромат піци чи диму.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287" y="3352800"/>
            <a:ext cx="2086012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0" i="0" u="none">
                <a:solidFill>
                  <a:srgbClr val="0F172A"/>
                </a:solidFill>
                <a:latin typeface="Plus Jakarta Sans"/>
              </a:rPr>
              <a:t>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9137" y="3905250"/>
            <a:ext cx="219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Язик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287" y="4191000"/>
            <a:ext cx="2086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8B5CF6"/>
                </a:solidFill>
                <a:latin typeface="Plus Jakarta Sans"/>
              </a:rPr>
              <a:t>Смак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287" y="4410075"/>
            <a:ext cx="20860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Солодке, солоне, кисле.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14662"/>
            <a:ext cx="3441650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75100" y="3014662"/>
            <a:ext cx="3441650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88200" y="3014662"/>
            <a:ext cx="3441799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033837"/>
            <a:ext cx="3441650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75100" y="4033837"/>
            <a:ext cx="3441650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88200" y="4033837"/>
            <a:ext cx="3441799" cy="847725"/>
          </a:xfrm>
          <a:prstGeom prst="roundRect">
            <a:avLst>
              <a:gd name="adj" fmla="val 202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3014662"/>
            <a:ext cx="47625" cy="8477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5100" y="3014662"/>
            <a:ext cx="47625" cy="8477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88200" y="3014662"/>
            <a:ext cx="47625" cy="8477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033837"/>
            <a:ext cx="47625" cy="8477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5100" y="4033837"/>
            <a:ext cx="47625" cy="8477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88200" y="4033837"/>
            <a:ext cx="47625" cy="84772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B2777"/>
                </a:solidFill>
                <a:latin typeface="Plus Jakarta Sans"/>
              </a:rPr>
              <a:t>⭐ ЗНАК ЯКОСТІ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Якою має бути справжня інформація?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205162"/>
            <a:ext cx="39545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✅ Достовірна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490912"/>
            <a:ext cx="3766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Тільки чиста правда без вигадок.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3225" y="3205162"/>
            <a:ext cx="39545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🧩 Повна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3225" y="3490912"/>
            <a:ext cx="3766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Коли відомі всі деталі, а не шматочок.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6325" y="3205162"/>
            <a:ext cx="39547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⏰ Актуальна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325" y="3490912"/>
            <a:ext cx="37664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Свіжа новина, а не торішній сніг.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224337"/>
            <a:ext cx="39545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💬 Зрозуміла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" y="4510087"/>
            <a:ext cx="3766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Сказана зрозумілою для тебе мовою.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3225" y="4224337"/>
            <a:ext cx="39545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🎯 Корисна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3225" y="4510087"/>
            <a:ext cx="3766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Допомагає виконати завдання чи діяти.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6325" y="4224337"/>
            <a:ext cx="395479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⚡ Своєчасна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6325" y="4510087"/>
            <a:ext cx="37664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Коли підказка приходить вчасно.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24150"/>
            <a:ext cx="5181600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24150"/>
            <a:ext cx="5181600" cy="248602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905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23950" y="3086100"/>
            <a:ext cx="1283791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10350" y="3086100"/>
            <a:ext cx="147310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🔐 МОВА ШИФРІВ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Як інформацію шифрують?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124200"/>
            <a:ext cx="118854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Plus Jakarta Sans"/>
              </a:rPr>
              <a:t>ІСТОРИЧНИЙ КОД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438525"/>
            <a:ext cx="5850731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Азбука Морзе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876675"/>
            <a:ext cx="55721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Plus Jakarta Sans"/>
              </a:rPr>
              <a:t>• • • — — — • • 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4410075"/>
            <a:ext cx="4552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Лише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крапки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й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тире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— так моряки передавали SOS на сотні кілометрів!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124200"/>
            <a:ext cx="1377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Plus Jakarta Sans"/>
              </a:rPr>
              <a:t>МОВА КОМП'ЮТЕРІВ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3438525"/>
            <a:ext cx="55816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Двійковий код (0 і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3876675"/>
            <a:ext cx="55721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59669"/>
                </a:solidFill>
                <a:latin typeface="Plus Jakarta Sans"/>
              </a:rPr>
              <a:t>01101001 01101110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410075"/>
            <a:ext cx="4552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Будь-яка гра чи відео в смартфоні — це насправді мільйони одиничок і нуликів!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41414"/>
            <a:ext cx="5200650" cy="2451496"/>
          </a:xfrm>
          <a:prstGeom prst="roundRect">
            <a:avLst>
              <a:gd name="adj" fmla="val 9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741414"/>
            <a:ext cx="5200650" cy="2451496"/>
          </a:xfrm>
          <a:prstGeom prst="roundRect">
            <a:avLst>
              <a:gd name="adj" fmla="val 9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741414"/>
            <a:ext cx="52006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800" y="4326135"/>
            <a:ext cx="4591050" cy="523875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29350" y="2741414"/>
            <a:ext cx="52006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34150" y="4326135"/>
            <a:ext cx="4591050" cy="523875"/>
          </a:xfrm>
          <a:prstGeom prst="roundRect">
            <a:avLst>
              <a:gd name="adj" fmla="val 2181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Plus Jakarta Sans"/>
              </a:rPr>
              <a:t>🔍 УВІМКНИ ДЕТЕКТИВНЕ МИСЛЕННЯ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Факт проти Оцінки: не плутай!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655814"/>
            <a:ext cx="46863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Те, що можна довести документами, лінійкою чи фотографією.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655814"/>
            <a:ext cx="46863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Особиста думка чи настрій людини. Хтось може бути не згоден.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160514"/>
            <a:ext cx="619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" y="3184326"/>
            <a:ext cx="87620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Факт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5" y="4488060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«Зараз на термометрі +18°C»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160514"/>
            <a:ext cx="619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lus Jakarta Sans"/>
              </a:rPr>
              <a:t>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1825" y="3184326"/>
            <a:ext cx="286051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Оціночне судження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4488060"/>
            <a:ext cx="5334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45309"/>
                </a:solidFill>
                <a:latin typeface="Plus Jakarta Sans"/>
              </a:rPr>
              <a:t>«Сьогодні жахлива й холодна погода»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895725"/>
            <a:ext cx="1816744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693044" y="3895725"/>
            <a:ext cx="1816744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24089" y="3895725"/>
            <a:ext cx="1816744" cy="942975"/>
          </a:xfrm>
          <a:prstGeom prst="roundRect">
            <a:avLst>
              <a:gd name="adj" fmla="val 16161"/>
            </a:avLst>
          </a:prstGeom>
          <a:solidFill>
            <a:srgbClr val="FFFFFF"/>
          </a:solidFill>
          <a:ln w="190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34" y="2443162"/>
            <a:ext cx="4646265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734" y="2443162"/>
            <a:ext cx="4646265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C3AED"/>
                </a:solidFill>
                <a:latin typeface="Plus Jakarta Sans"/>
              </a:rPr>
              <a:t>📱 СУЧАСНА КУЛЬТУРА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Медіатекст — це не просто букви!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95625"/>
            <a:ext cx="577408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Plus Jakarta Sans"/>
              </a:rPr>
              <a:t>Медіатекстом називають </a:t>
            </a:r>
            <a:r>
              <a:rPr sz="1500" b="1" i="0" u="none">
                <a:solidFill>
                  <a:srgbClr val="334155"/>
                </a:solidFill>
                <a:latin typeface="Plus Jakarta Sans"/>
              </a:rPr>
              <a:t>будь-яке повідомлення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у медіа, яке поєднує різні формати для сприйняття: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19" y="4067175"/>
            <a:ext cx="184230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lus Jakarta Sans"/>
              </a:rPr>
              <a:t>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219" y="4467225"/>
            <a:ext cx="1842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Слова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264" y="4067175"/>
            <a:ext cx="184230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lus Jakarta Sans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0264" y="4467225"/>
            <a:ext cx="1842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Картинки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309" y="4067175"/>
            <a:ext cx="184230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F172A"/>
                </a:solidFill>
                <a:latin typeface="Plus Jakarta Sans"/>
              </a:rPr>
              <a:t>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309" y="4467225"/>
            <a:ext cx="1842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Звуки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19425"/>
            <a:ext cx="3403550" cy="1895475"/>
          </a:xfrm>
          <a:prstGeom prst="roundRect">
            <a:avLst>
              <a:gd name="adj" fmla="val 100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019425"/>
            <a:ext cx="3403550" cy="1895475"/>
          </a:xfrm>
          <a:prstGeom prst="roundRect">
            <a:avLst>
              <a:gd name="adj" fmla="val 100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019425"/>
            <a:ext cx="3403550" cy="1895475"/>
          </a:xfrm>
          <a:prstGeom prst="roundRect">
            <a:avLst>
              <a:gd name="adj" fmla="val 100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857750"/>
            <a:ext cx="340355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4857750"/>
            <a:ext cx="340355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4857750"/>
            <a:ext cx="340355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Plus Jakarta Sans"/>
              </a:rPr>
              <a:t>📢 МАГІЯ ЕКРАНІВ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Як медіа керують нашою увагою?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324225"/>
            <a:ext cx="368293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829050"/>
            <a:ext cx="38670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Диктують тренди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152900"/>
            <a:ext cx="3041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Підказують, яку музику слухати та у що вдягатися.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3324225"/>
            <a:ext cx="368293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"/>
              </a:rPr>
              <a:t>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750" y="3829050"/>
            <a:ext cx="38670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Вмикають ліхтарик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4152900"/>
            <a:ext cx="3041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Показують одні новини, а про інші мовчать.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4900" y="3324225"/>
            <a:ext cx="3682937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"/>
              </a:rPr>
              <a:t>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00" y="3829050"/>
            <a:ext cx="38670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Дають підказку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900" y="4152900"/>
            <a:ext cx="3041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Нав’язують думку, як ставитися до тих чи інших подій.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32969" y="4524375"/>
            <a:ext cx="1766887" cy="361950"/>
          </a:xfrm>
          <a:prstGeom prst="roundRect">
            <a:avLst>
              <a:gd name="adj" fmla="val 31578"/>
            </a:avLst>
          </a:prstGeom>
          <a:solidFill>
            <a:srgbClr val="1C3851"/>
          </a:solidFill>
          <a:ln w="9525">
            <a:solidFill>
              <a:srgbClr val="214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14157" y="4524375"/>
            <a:ext cx="1844873" cy="361950"/>
          </a:xfrm>
          <a:prstGeom prst="roundRect">
            <a:avLst>
              <a:gd name="adj" fmla="val 31578"/>
            </a:avLst>
          </a:prstGeom>
          <a:solidFill>
            <a:srgbClr val="38332D"/>
          </a:solidFill>
          <a:ln w="9525">
            <a:solidFill>
              <a:srgbClr val="5A4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1971675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2143125"/>
            <a:ext cx="3429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8600" y="2886075"/>
            <a:ext cx="9014798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FFFFFF"/>
                </a:solidFill>
                <a:latin typeface="Space Grotesk"/>
              </a:rPr>
              <a:t>Твій щит — критичне мислення!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3590925"/>
            <a:ext cx="833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Не вір усьому в інтернеті на слово. Перевіряй джерела, шукай факти і будь найрозумнішим користувачем!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3558" y="4600575"/>
            <a:ext cx="186570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Plus Jakarta Sans"/>
              </a:rPr>
              <a:t>🔎 Перевіряй факти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4997" y="4600575"/>
            <a:ext cx="196319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BBF24"/>
                </a:solidFill>
                <a:latin typeface="Plus Jakarta Sans"/>
              </a:rPr>
              <a:t>💡 Май власну думку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463</Words>
  <Application>Microsoft Office PowerPoint</Application>
  <PresentationFormat>Широкий екран</PresentationFormat>
  <Paragraphs>101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5" baseType="lpstr">
      <vt:lpstr>Plus Jakarta Sans</vt:lpstr>
      <vt:lpstr>Arial</vt:lpstr>
      <vt:lpstr>Calibri</vt:lpstr>
      <vt:lpstr>Space Grotesk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 S U S</cp:lastModifiedBy>
  <cp:revision>2</cp:revision>
  <dcterms:created xsi:type="dcterms:W3CDTF">2013-01-27T09:14:16Z</dcterms:created>
  <dcterms:modified xsi:type="dcterms:W3CDTF">2026-10-17T17:22:59Z</dcterms:modified>
  <cp:category/>
</cp:coreProperties>
</file>