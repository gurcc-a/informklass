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67" r:id="rId16"/>
  </p:sldIdLst>
  <p:sldSz cx="14630400" cy="8229600"/>
  <p:notesSz cx="8229600" cy="14630400"/>
  <p:embeddedFontLst>
    <p:embeddedFont>
      <p:font typeface="Fraunces Extra Bold" panose="020B0604020202020204" charset="0"/>
      <p:regular r:id="rId18"/>
    </p:embeddedFont>
    <p:embeddedFont>
      <p:font typeface="Nobile Medium" panose="020B0604020202020204" charset="0"/>
      <p:regular r:id="rId19"/>
    </p:embeddedFont>
  </p:embeddedFontLst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CC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733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aurok.com.ua/prezentaciya-algoritmi-sortuvannya-sortuvannya-bulbashkoyu-484420.htm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24814" y="2673522"/>
            <a:ext cx="73406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algn="ctr">
              <a:lnSpc>
                <a:spcPts val="4450"/>
              </a:lnSpc>
              <a:buNone/>
            </a:pPr>
            <a:r>
              <a:rPr lang="en-US" sz="5400" b="1" dirty="0" err="1">
                <a:solidFill>
                  <a:srgbClr val="0099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 Bold" pitchFamily="34" charset="0"/>
              </a:rPr>
              <a:t>Алгоритми</a:t>
            </a:r>
            <a:r>
              <a:rPr lang="en-US" sz="6000" b="1" dirty="0">
                <a:solidFill>
                  <a:srgbClr val="0099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 Bold" pitchFamily="34" charset="0"/>
              </a:rPr>
              <a:t> </a:t>
            </a:r>
            <a:r>
              <a:rPr lang="en-US" sz="6000" b="1" dirty="0" err="1">
                <a:solidFill>
                  <a:srgbClr val="0099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 Bold" pitchFamily="34" charset="0"/>
              </a:rPr>
              <a:t>сортування</a:t>
            </a:r>
            <a:endParaRPr lang="en-US" sz="6000" b="1" dirty="0">
              <a:solidFill>
                <a:srgbClr val="0099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unces Extra Bold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36859" y="3547824"/>
            <a:ext cx="7716510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uk-UA" sz="4800" b="1" noProof="0" dirty="0">
                <a:solidFill>
                  <a:srgbClr val="33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Алгоритм сортування бульбашкою</a:t>
            </a:r>
            <a:endParaRPr lang="uk-UA" sz="4800" noProof="0" dirty="0">
              <a:solidFill>
                <a:srgbClr val="33CC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8FC8FF-F6D5-5D68-0AAF-E0C689D72AEA}"/>
              </a:ext>
            </a:extLst>
          </p:cNvPr>
          <p:cNvSpPr txBox="1"/>
          <p:nvPr/>
        </p:nvSpPr>
        <p:spPr>
          <a:xfrm>
            <a:off x="0" y="780286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Матеріал взятий з </a:t>
            </a:r>
            <a:r>
              <a:rPr lang="uk-UA" dirty="0">
                <a:hlinkClick r:id="rId4"/>
              </a:rPr>
              <a:t>сайту</a:t>
            </a:r>
            <a:endParaRPr lang="uk-U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87447" y="547441"/>
            <a:ext cx="7045253" cy="188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4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Для молодих програмістів дуже часто серйозним викликом стає правильний пошук ефективного алгоритму сортування, бо від цього залежить складність, швидкість та ефективність програми.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8905868" y="536307"/>
            <a:ext cx="513708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400" b="1" i="1" dirty="0" err="1">
                <a:solidFill>
                  <a:srgbClr val="00B050"/>
                </a:solidFill>
                <a:latin typeface="Fraunces Extra Bold" pitchFamily="34" charset="0"/>
              </a:rPr>
              <a:t>Існують</a:t>
            </a:r>
            <a:r>
              <a:rPr lang="en-US" sz="2000" i="1" dirty="0">
                <a:solidFill>
                  <a:srgbClr val="00B050"/>
                </a:solidFill>
                <a:latin typeface="Nobile Medium" pitchFamily="34" charset="0"/>
              </a:rPr>
              <a:t> </a:t>
            </a:r>
            <a:r>
              <a:rPr lang="en-US" sz="2400" b="1" i="1" dirty="0" err="1">
                <a:solidFill>
                  <a:srgbClr val="00B050"/>
                </a:solidFill>
                <a:latin typeface="Fraunces Extra Bold" pitchFamily="34" charset="0"/>
              </a:rPr>
              <a:t>навіть</a:t>
            </a:r>
            <a:r>
              <a:rPr lang="en-US" sz="2400" b="1" i="1" dirty="0">
                <a:solidFill>
                  <a:srgbClr val="00B050"/>
                </a:solidFill>
                <a:latin typeface="Fraunces Extra Bold" pitchFamily="34" charset="0"/>
              </a:rPr>
              <a:t> </a:t>
            </a:r>
            <a:r>
              <a:rPr lang="uk-UA" sz="2400" b="1" i="1" dirty="0">
                <a:solidFill>
                  <a:srgbClr val="00B050"/>
                </a:solidFill>
                <a:latin typeface="Fraunces Extra Bold" pitchFamily="34" charset="0"/>
              </a:rPr>
              <a:t>меми на</a:t>
            </a:r>
            <a:r>
              <a:rPr lang="en-US" sz="2400" b="1" i="1" dirty="0">
                <a:solidFill>
                  <a:srgbClr val="00B050"/>
                </a:solidFill>
                <a:latin typeface="Fraunces Extra Bold" pitchFamily="34" charset="0"/>
              </a:rPr>
              <a:t> </a:t>
            </a:r>
            <a:r>
              <a:rPr lang="en-US" sz="2400" b="1" i="1" dirty="0" err="1">
                <a:solidFill>
                  <a:srgbClr val="00B050"/>
                </a:solidFill>
                <a:latin typeface="Fraunces Extra Bold" pitchFamily="34" charset="0"/>
              </a:rPr>
              <a:t>цю</a:t>
            </a:r>
            <a:r>
              <a:rPr lang="en-US" sz="2400" b="1" i="1" dirty="0">
                <a:solidFill>
                  <a:srgbClr val="00B050"/>
                </a:solidFill>
                <a:latin typeface="Fraunces Extra Bold" pitchFamily="34" charset="0"/>
              </a:rPr>
              <a:t> </a:t>
            </a:r>
            <a:r>
              <a:rPr lang="en-US" sz="2400" b="1" i="1" dirty="0" err="1">
                <a:solidFill>
                  <a:srgbClr val="00B050"/>
                </a:solidFill>
                <a:latin typeface="Fraunces Extra Bold" pitchFamily="34" charset="0"/>
              </a:rPr>
              <a:t>тему</a:t>
            </a:r>
            <a:r>
              <a:rPr lang="en-US" sz="2400" b="1" i="1" dirty="0">
                <a:solidFill>
                  <a:srgbClr val="00B050"/>
                </a:solidFill>
                <a:latin typeface="Fraunces Extra Bold" pitchFamily="34" charset="0"/>
              </a:rPr>
              <a:t>:</a:t>
            </a:r>
          </a:p>
        </p:txBody>
      </p:sp>
      <p:sp>
        <p:nvSpPr>
          <p:cNvPr id="5" name="Text 2"/>
          <p:cNvSpPr/>
          <p:nvPr/>
        </p:nvSpPr>
        <p:spPr>
          <a:xfrm>
            <a:off x="578951" y="2991350"/>
            <a:ext cx="7502453" cy="122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Щоб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було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легше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розібратися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розглянемо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,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які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існують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основні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способи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сортування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і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як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вони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реалізуються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0E16B92-09C0-691D-58D0-55FFED5DA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4737" y="1088115"/>
            <a:ext cx="5979345" cy="659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3"/>
          <p:cNvSpPr/>
          <p:nvPr/>
        </p:nvSpPr>
        <p:spPr>
          <a:xfrm>
            <a:off x="587447" y="4626200"/>
            <a:ext cx="7556421" cy="3055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Сортування</a:t>
            </a:r>
            <a:r>
              <a:rPr lang="en-US" sz="24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 — це навичка, якою повинен володіти кожен програміст, бо це значно покращує пошук елемента. Особливо, коли маєш справу з великими даними, а це буде відбуватися постійно, доводиться часто сортувати їх за якимось критерієм. Отже, сортування широко використовується в програмуванні.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49473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6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Сортування даних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93790" y="1195605"/>
            <a:ext cx="13328610" cy="71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Сортування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даних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– це розташування елементів даних у певному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порядку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.</a:t>
            </a:r>
          </a:p>
        </p:txBody>
      </p:sp>
      <p:sp>
        <p:nvSpPr>
          <p:cNvPr id="4" name="Text 2"/>
          <p:cNvSpPr/>
          <p:nvPr/>
        </p:nvSpPr>
        <p:spPr>
          <a:xfrm>
            <a:off x="1316087" y="2209475"/>
            <a:ext cx="7788216" cy="3539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uk-UA" sz="2400" dirty="0">
                <a:solidFill>
                  <a:srgbClr val="405449"/>
                </a:solidFill>
                <a:latin typeface="Nobile Medium" pitchFamily="34" charset="0"/>
              </a:rPr>
              <a:t>Д</a:t>
            </a:r>
            <a:r>
              <a:rPr lang="en-US" sz="2400" dirty="0" err="1">
                <a:solidFill>
                  <a:srgbClr val="405449"/>
                </a:solidFill>
                <a:latin typeface="Nobile Medium" pitchFamily="34" charset="0"/>
              </a:rPr>
              <a:t>ані</a:t>
            </a:r>
            <a:r>
              <a:rPr lang="en-US" sz="2400" dirty="0">
                <a:solidFill>
                  <a:srgbClr val="405449"/>
                </a:solidFill>
                <a:latin typeface="Nobile Medium" pitchFamily="34" charset="0"/>
              </a:rPr>
              <a:t>, які ми зберігаємо або редагуємо чи шукаємо, можуть перебувати у безладному стані. І тоді виникає необхідність упорядкувати дані перш ніж їх можна </a:t>
            </a:r>
            <a:r>
              <a:rPr lang="en-US" sz="2400" dirty="0" err="1">
                <a:solidFill>
                  <a:srgbClr val="405449"/>
                </a:solidFill>
                <a:latin typeface="Nobile Medium" pitchFamily="34" charset="0"/>
              </a:rPr>
              <a:t>буде</a:t>
            </a:r>
            <a:r>
              <a:rPr lang="en-US" sz="2400" dirty="0">
                <a:solidFill>
                  <a:srgbClr val="405449"/>
                </a:solidFill>
                <a:latin typeface="Nobile Medium" pitchFamily="34" charset="0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Nobile Medium" pitchFamily="34" charset="0"/>
              </a:rPr>
              <a:t>ефективно</a:t>
            </a:r>
            <a:r>
              <a:rPr lang="en-US" sz="2400" dirty="0">
                <a:solidFill>
                  <a:srgbClr val="405449"/>
                </a:solidFill>
                <a:latin typeface="Nobile Medium" pitchFamily="34" charset="0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Nobile Medium" pitchFamily="34" charset="0"/>
              </a:rPr>
              <a:t>використовувати</a:t>
            </a:r>
            <a:r>
              <a:rPr lang="en-US" sz="2400" dirty="0">
                <a:solidFill>
                  <a:srgbClr val="405449"/>
                </a:solidFill>
                <a:latin typeface="Nobile Medium" pitchFamily="34" charset="0"/>
              </a:rPr>
              <a:t>.</a:t>
            </a:r>
            <a:endParaRPr lang="uk-UA" sz="2400" dirty="0">
              <a:solidFill>
                <a:srgbClr val="405449"/>
              </a:solidFill>
              <a:latin typeface="Nobile Medium" pitchFamily="34" charset="0"/>
            </a:endParaRPr>
          </a:p>
          <a:p>
            <a:pPr algn="just"/>
            <a:r>
              <a:rPr lang="en-US" sz="2400" dirty="0" err="1">
                <a:solidFill>
                  <a:srgbClr val="405449"/>
                </a:solidFill>
                <a:latin typeface="Nobile Medium" pitchFamily="34" charset="0"/>
              </a:rPr>
              <a:t>Працюючи</a:t>
            </a:r>
            <a:r>
              <a:rPr lang="en-US" sz="2400" dirty="0">
                <a:solidFill>
                  <a:srgbClr val="405449"/>
                </a:solidFill>
                <a:latin typeface="Nobile Medium" pitchFamily="34" charset="0"/>
              </a:rPr>
              <a:t> з даними, сортування є одне з найважливіших завдань. Для цього було </a:t>
            </a:r>
            <a:r>
              <a:rPr lang="en-US" sz="2400" dirty="0" err="1">
                <a:solidFill>
                  <a:srgbClr val="405449"/>
                </a:solidFill>
                <a:latin typeface="Nobile Medium" pitchFamily="34" charset="0"/>
              </a:rPr>
              <a:t>створено</a:t>
            </a:r>
            <a:r>
              <a:rPr lang="en-US" sz="2400" dirty="0">
                <a:solidFill>
                  <a:srgbClr val="405449"/>
                </a:solidFill>
                <a:latin typeface="Nobile Medium" pitchFamily="34" charset="0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Nobile Medium" pitchFamily="34" charset="0"/>
              </a:rPr>
              <a:t>багато</a:t>
            </a:r>
            <a:r>
              <a:rPr lang="en-US" sz="2400" dirty="0">
                <a:solidFill>
                  <a:srgbClr val="405449"/>
                </a:solidFill>
                <a:latin typeface="Nobile Medium" pitchFamily="34" charset="0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Nobile Medium" pitchFamily="34" charset="0"/>
              </a:rPr>
              <a:t>алгоритмів</a:t>
            </a:r>
            <a:r>
              <a:rPr lang="en-US" sz="2400" dirty="0">
                <a:solidFill>
                  <a:srgbClr val="405449"/>
                </a:solidFill>
                <a:latin typeface="Nobile Medium" pitchFamily="34" charset="0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Nobile Medium" pitchFamily="34" charset="0"/>
              </a:rPr>
              <a:t>сортування</a:t>
            </a:r>
            <a:r>
              <a:rPr lang="en-US" sz="2400" dirty="0">
                <a:solidFill>
                  <a:srgbClr val="405449"/>
                </a:solidFill>
                <a:latin typeface="Nobile Medium" pitchFamily="34" charset="0"/>
              </a:rPr>
              <a:t> для </a:t>
            </a:r>
            <a:r>
              <a:rPr lang="en-US" sz="2400" dirty="0" err="1">
                <a:solidFill>
                  <a:srgbClr val="405449"/>
                </a:solidFill>
                <a:latin typeface="Nobile Medium" pitchFamily="34" charset="0"/>
              </a:rPr>
              <a:t>організації</a:t>
            </a:r>
            <a:r>
              <a:rPr lang="en-US" sz="2400" dirty="0">
                <a:solidFill>
                  <a:srgbClr val="405449"/>
                </a:solidFill>
                <a:latin typeface="Nobile Medium" pitchFamily="34" charset="0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Nobile Medium" pitchFamily="34" charset="0"/>
              </a:rPr>
              <a:t>даних</a:t>
            </a:r>
            <a:r>
              <a:rPr lang="en-US" sz="2400" dirty="0">
                <a:solidFill>
                  <a:srgbClr val="405449"/>
                </a:solidFill>
                <a:latin typeface="Nobile Medium" pitchFamily="34" charset="0"/>
              </a:rPr>
              <a:t>.</a:t>
            </a:r>
          </a:p>
        </p:txBody>
      </p:sp>
      <p:sp>
        <p:nvSpPr>
          <p:cNvPr id="6" name="Text 4"/>
          <p:cNvSpPr/>
          <p:nvPr/>
        </p:nvSpPr>
        <p:spPr>
          <a:xfrm>
            <a:off x="936684" y="623183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2400" dirty="0">
                <a:solidFill>
                  <a:srgbClr val="405449"/>
                </a:solidFill>
                <a:latin typeface="Nobile Medium" pitchFamily="34" charset="0"/>
              </a:rPr>
              <a:t>Іноді це зробити досить просто, наприклад, коли потрібно відсортувати список прізвищ по алфавіту, або обрати товари від найдешевшого </a:t>
            </a:r>
            <a:r>
              <a:rPr lang="en-US" sz="2400" dirty="0" err="1">
                <a:solidFill>
                  <a:srgbClr val="405449"/>
                </a:solidFill>
                <a:latin typeface="Nobile Medium" pitchFamily="34" charset="0"/>
              </a:rPr>
              <a:t>до</a:t>
            </a:r>
            <a:r>
              <a:rPr lang="en-US" sz="2400" dirty="0">
                <a:solidFill>
                  <a:srgbClr val="405449"/>
                </a:solidFill>
                <a:latin typeface="Nobile Medium" pitchFamily="34" charset="0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Nobile Medium" pitchFamily="34" charset="0"/>
              </a:rPr>
              <a:t>найдорожчого</a:t>
            </a:r>
            <a:r>
              <a:rPr lang="en-US" sz="2400" dirty="0">
                <a:solidFill>
                  <a:srgbClr val="405449"/>
                </a:solidFill>
                <a:latin typeface="Nobile Medium" pitchFamily="34" charset="0"/>
              </a:rPr>
              <a:t>.</a:t>
            </a:r>
          </a:p>
        </p:txBody>
      </p:sp>
      <p:sp>
        <p:nvSpPr>
          <p:cNvPr id="7" name="Text 5"/>
          <p:cNvSpPr/>
          <p:nvPr/>
        </p:nvSpPr>
        <p:spPr>
          <a:xfrm>
            <a:off x="793790" y="676846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3074" name="Picture 2" descr="Сортировка кучей (пирамидальная) - вопросы с собеседований">
            <a:extLst>
              <a:ext uri="{FF2B5EF4-FFF2-40B4-BE49-F238E27FC236}">
                <a16:creationId xmlns:a16="http://schemas.microsoft.com/office/drawing/2014/main" id="{C54270F5-6998-FAF9-19C8-2A20841400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66" r="13964"/>
          <a:stretch>
            <a:fillRect/>
          </a:stretch>
        </p:blipFill>
        <p:spPr bwMode="auto">
          <a:xfrm>
            <a:off x="9626599" y="1824037"/>
            <a:ext cx="4791593" cy="3925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3664" y="42157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3600" b="1" i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Приклади використання сортування на практиці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93790" y="65034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B497359-433C-A9AC-DB35-4A60C4778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225" y="1233638"/>
            <a:ext cx="10521950" cy="6663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3410" y="464072"/>
            <a:ext cx="13850223" cy="1101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Але іноді це завдання стає більш складним і на цьому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етапі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розробник</a:t>
            </a:r>
            <a:r>
              <a:rPr lang="uk-UA" sz="2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стикається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з проблемою вибору алгоритму сортування.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3410" y="1628377"/>
            <a:ext cx="13403580" cy="1101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4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Правильно обраний алгоритм може значно швидше покращити процес пошуку і сортування даних, що своєю чергою, при роботі з великим обсягом інформації є вкрай важливою для функціональних продуктів та оптимізації часу роботи.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3410" y="3024313"/>
            <a:ext cx="13403580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4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Існує безліч методів сортування даних, деякі з них краще за інші, деякі більш ефективні для конкретних цілей. Залежно від методу структур даних, що використовуються, можна використовувати різні методи сортування.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415" y="4469010"/>
            <a:ext cx="6587966" cy="32794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243495"/>
            <a:ext cx="75564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864523" y="1252318"/>
            <a:ext cx="9847253" cy="1594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450"/>
              </a:lnSpc>
            </a:pPr>
            <a:r>
              <a:rPr lang="en-US" sz="3200" b="1" dirty="0" err="1">
                <a:solidFill>
                  <a:srgbClr val="438951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Сортування</a:t>
            </a:r>
            <a:r>
              <a:rPr lang="en-US" sz="3200" b="1" dirty="0">
                <a:solidFill>
                  <a:srgbClr val="438951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en-US" sz="3200" b="1" dirty="0" err="1">
                <a:solidFill>
                  <a:srgbClr val="438951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обміном</a:t>
            </a:r>
            <a:r>
              <a:rPr lang="uk-UA" sz="3200" b="1" dirty="0">
                <a:solidFill>
                  <a:srgbClr val="438951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або</a:t>
            </a:r>
            <a:r>
              <a:rPr lang="en-US" sz="3200" b="1" dirty="0">
                <a:solidFill>
                  <a:srgbClr val="438951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uk-UA" sz="3200" b="1" dirty="0">
                <a:solidFill>
                  <a:srgbClr val="438951"/>
                </a:solidFill>
              </a:rPr>
              <a:t>м</a:t>
            </a:r>
            <a:r>
              <a:rPr lang="en-US" sz="3200" b="1" dirty="0" err="1">
                <a:solidFill>
                  <a:srgbClr val="438951"/>
                </a:solidFill>
                <a:latin typeface="Fraunces Extra Bold" pitchFamily="34" charset="0"/>
              </a:rPr>
              <a:t>етод</a:t>
            </a:r>
            <a:r>
              <a:rPr lang="en-US" sz="3200" b="1" dirty="0">
                <a:solidFill>
                  <a:srgbClr val="438951"/>
                </a:solidFill>
                <a:latin typeface="Fraunces Extra Bold" pitchFamily="34" charset="0"/>
              </a:rPr>
              <a:t> «</a:t>
            </a:r>
            <a:r>
              <a:rPr lang="en-US" sz="3200" b="1" dirty="0" err="1">
                <a:solidFill>
                  <a:srgbClr val="438951"/>
                </a:solidFill>
                <a:latin typeface="Fraunces Extra Bold" pitchFamily="34" charset="0"/>
              </a:rPr>
              <a:t>бульбашки</a:t>
            </a:r>
            <a:r>
              <a:rPr lang="en-US" sz="3200" b="1" dirty="0">
                <a:solidFill>
                  <a:srgbClr val="438951"/>
                </a:solidFill>
                <a:latin typeface="Fraunces Extra Bold" pitchFamily="34" charset="0"/>
              </a:rPr>
              <a:t>»</a:t>
            </a:r>
            <a:endParaRPr lang="uk-UA" sz="3200" b="1" dirty="0">
              <a:solidFill>
                <a:srgbClr val="438951"/>
              </a:solidFill>
            </a:endParaRPr>
          </a:p>
          <a:p>
            <a:pPr algn="ctr">
              <a:lnSpc>
                <a:spcPts val="4450"/>
              </a:lnSpc>
            </a:pPr>
            <a:endParaRPr lang="en-US" sz="3200" dirty="0"/>
          </a:p>
          <a:p>
            <a:pPr marL="0" indent="0" algn="ctr">
              <a:lnSpc>
                <a:spcPts val="4450"/>
              </a:lnSpc>
              <a:buNone/>
            </a:pPr>
            <a:r>
              <a:rPr lang="en-US" sz="3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301789" y="265270"/>
            <a:ext cx="13328611" cy="11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На цьому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уроці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розглянемо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метод</a:t>
            </a:r>
            <a:r>
              <a:rPr lang="uk-UA" sz="2800" b="1" dirty="0">
                <a:solidFill>
                  <a:srgbClr val="3B4540"/>
                </a:solidFill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сортування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бульбашкою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-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один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з</a:t>
            </a:r>
            <a:r>
              <a:rPr lang="uk-UA" sz="2800" b="1" dirty="0">
                <a:solidFill>
                  <a:srgbClr val="3B4540"/>
                </a:solidFill>
                <a:latin typeface="Fraunces Extra Bold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найпростіших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</a:t>
            </a:r>
            <a:r>
              <a:rPr lang="uk-UA" sz="2800" b="1" dirty="0">
                <a:solidFill>
                  <a:srgbClr val="3B4540"/>
                </a:solidFill>
                <a:latin typeface="Fraunces Extra Bold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для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розуміння методів сортування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даних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BA8477C-EF7D-DA56-6A6F-D8F393C46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443" y="2049798"/>
            <a:ext cx="4075502" cy="26274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2"/>
          <p:cNvSpPr/>
          <p:nvPr/>
        </p:nvSpPr>
        <p:spPr>
          <a:xfrm>
            <a:off x="793790" y="5172806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24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Сортування бульбашкою - це метод сортування масивів і списків шляхом послідовного порівняння та обміну сусідніх елементів, тобто кожної ітерації порівнюємо елементи попарно. При необхідності елементи змінюються місцями, щоб більший елемент відправився у кінець списку.</a:t>
            </a:r>
            <a:endParaRPr lang="en-US" sz="2400" dirty="0"/>
          </a:p>
        </p:txBody>
      </p:sp>
      <p:sp>
        <p:nvSpPr>
          <p:cNvPr id="9" name="Text 1"/>
          <p:cNvSpPr/>
          <p:nvPr/>
        </p:nvSpPr>
        <p:spPr>
          <a:xfrm>
            <a:off x="895390" y="696968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24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Цей вид сортування вивчають на початку знайомства з алгоритмами сортування, оскільки він дуже просто демонструє саму концепцію сортування.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94521" y="327660"/>
            <a:ext cx="1084135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6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Сортування обміном або метод «бульбашки»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95391" y="1160740"/>
            <a:ext cx="7296109" cy="223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У процесі виконання даного алгоритму елементи з більшими значеннями виявляються наприкінці списку, а елементи з меншими значеннями поступово переміщуються до початку списку. Тобто, образно кажучи, важкі елементи «падають на дно», а легші повільно «спливають вгору» подібно до бульбашок повітря. При цьому спочатку сортування відсортованим стає кінець списку, а не його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початок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.</a:t>
            </a:r>
          </a:p>
        </p:txBody>
      </p:sp>
      <p:sp>
        <p:nvSpPr>
          <p:cNvPr id="6" name="Text 4"/>
          <p:cNvSpPr/>
          <p:nvPr/>
        </p:nvSpPr>
        <p:spPr>
          <a:xfrm>
            <a:off x="793789" y="6308526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24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У сортуванні методом бульбашки </a:t>
            </a:r>
            <a:r>
              <a:rPr lang="en-US" sz="2400" b="1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кількість ітерацій (проходів) </a:t>
            </a:r>
            <a:r>
              <a:rPr lang="en-US" sz="24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зовнішнього циклу визначається довжиною списку (кількістю його елементів) мінус один, оскільки коли другий елемент стає на своє місце, то перший вже однозначно мінімальний і не вимагає сортування.</a:t>
            </a:r>
            <a:endParaRPr lang="en-US" sz="2400" dirty="0"/>
          </a:p>
        </p:txBody>
      </p:sp>
      <p:pic>
        <p:nvPicPr>
          <p:cNvPr id="6146" name="Picture 2" descr="Алгоритм сортування масиву методом бульбашки | Bubble Sort | Sort Algorithms">
            <a:extLst>
              <a:ext uri="{FF2B5EF4-FFF2-40B4-BE49-F238E27FC236}">
                <a16:creationId xmlns:a16="http://schemas.microsoft.com/office/drawing/2014/main" id="{793BFC4C-2A1C-56F6-CF71-F994F311D8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34" b="14642"/>
          <a:stretch>
            <a:fillRect/>
          </a:stretch>
        </p:blipFill>
        <p:spPr bwMode="auto">
          <a:xfrm>
            <a:off x="8865254" y="2177142"/>
            <a:ext cx="5117446" cy="2710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071" y="308968"/>
            <a:ext cx="12490252" cy="541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Розглянемо даний алгоритм на конкретному прикладі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31071" y="994093"/>
            <a:ext cx="3248978" cy="406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b="1" i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Постановка задачі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50510" y="1622981"/>
            <a:ext cx="13498890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Нехай у нас є список із п'яти елементів </a:t>
            </a:r>
            <a:r>
              <a:rPr lang="en-US" sz="2400" b="1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[6, 12, 4, 3, 8]</a:t>
            </a:r>
            <a:r>
              <a:rPr lang="en-US" sz="24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, значить кількість ітерацій даного списку буде дорівнювати </a:t>
            </a:r>
            <a:r>
              <a:rPr lang="en-US" sz="2400" b="1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4.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58071" y="2521238"/>
            <a:ext cx="13114258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4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Відсортуємо цей список за зростанням елементів.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31071" y="3761403"/>
            <a:ext cx="6427232" cy="406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b="1" i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Теоретичне пояснення розв'язку задачі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58071" y="4483708"/>
            <a:ext cx="3726537" cy="406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Алгоритм виконання: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6035" y="5127455"/>
            <a:ext cx="13364329" cy="76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Почнемо із порівняння перших двох елементів списку. Якщо перший елемент більший за другий, ми змінюємо їх місцями. Якщо вони вже у потрібному порядку, ми залишаємо їх як є.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1071" y="6004183"/>
            <a:ext cx="13694529" cy="480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buSzPct val="100000"/>
              <a:buFont typeface="+mj-lt"/>
              <a:buAutoNum type="arabicPeriod" startAt="2"/>
            </a:pP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Потім ми переходимо до наступної пари елементів, порівнюємо їх значення та </a:t>
            </a:r>
            <a:r>
              <a:rPr lang="en-US" sz="2000" dirty="0" err="1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міняємо</a:t>
            </a: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 </a:t>
            </a:r>
            <a:r>
              <a:rPr lang="en-US" sz="2000" dirty="0" err="1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місцями</a:t>
            </a:r>
            <a:endParaRPr lang="uk-UA" sz="2000" dirty="0">
              <a:solidFill>
                <a:srgbClr val="405449"/>
              </a:solidFill>
              <a:latin typeface="Nobile Medium" pitchFamily="34" charset="0"/>
              <a:ea typeface="Nobile Medium" pitchFamily="34" charset="-122"/>
              <a:cs typeface="Nobile Medium" pitchFamily="34" charset="-120"/>
            </a:endParaRPr>
          </a:p>
          <a:p>
            <a:pPr algn="l">
              <a:lnSpc>
                <a:spcPts val="2700"/>
              </a:lnSpc>
              <a:buSzPct val="100000"/>
            </a:pPr>
            <a:r>
              <a:rPr lang="uk-UA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     </a:t>
            </a:r>
            <a:r>
              <a:rPr lang="en-US" sz="2000" dirty="0" err="1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за</a:t>
            </a: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 потреби.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1071" y="6703694"/>
            <a:ext cx="13114258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3"/>
            </a:pP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Цей процес продовжується до останньої пари елементів у списку.</a:t>
            </a:r>
            <a:endParaRPr lang="en-US" sz="2000" dirty="0"/>
          </a:p>
        </p:txBody>
      </p:sp>
      <p:pic>
        <p:nvPicPr>
          <p:cNvPr id="1026" name="Picture 2" descr="Теория – Бесплатные иконки: образование">
            <a:extLst>
              <a:ext uri="{FF2B5EF4-FFF2-40B4-BE49-F238E27FC236}">
                <a16:creationId xmlns:a16="http://schemas.microsoft.com/office/drawing/2014/main" id="{488E01CE-27A7-EF3D-1A26-561C2AAFC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3510" y="2155671"/>
            <a:ext cx="2491819" cy="2491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741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Перша ітерація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3790" y="1815464"/>
            <a:ext cx="1311425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При </a:t>
            </a:r>
            <a:r>
              <a:rPr lang="en-US" sz="2000" b="1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першій ітерації</a:t>
            </a: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 зовнішнього циклу число </a:t>
            </a:r>
            <a:r>
              <a:rPr lang="en-US" sz="2400" b="1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12</a:t>
            </a: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 переміститься в кінець списку. Кількість ітерацій (перевірок) внутрішнього циклу залежить від номера ітерації зовнішнього циклу, оскільки кінець списку вже відсортовано, і виконувати прохід цим елементам сенсу немає. Значить для цього </a:t>
            </a:r>
            <a:r>
              <a:rPr lang="en-US" sz="2000" dirty="0" err="1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потрібно</a:t>
            </a: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 </a:t>
            </a:r>
            <a:r>
              <a:rPr lang="en-US" sz="2400" b="1" dirty="0">
                <a:solidFill>
                  <a:srgbClr val="405449"/>
                </a:solidFill>
                <a:latin typeface="Nobile Medium" pitchFamily="34" charset="0"/>
              </a:rPr>
              <a:t>4</a:t>
            </a: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 порівняння у внутрішньому циклі: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2127" y="66947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Результатом першої ітерації буде оновлений список: </a:t>
            </a:r>
            <a:r>
              <a:rPr lang="en-US" sz="24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[6, 4, 3, 8, 12]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93790" y="465098"/>
            <a:ext cx="13114258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50"/>
              </a:lnSpc>
            </a:pPr>
            <a:r>
              <a:rPr lang="en-US" sz="2800" b="1" i="1" dirty="0">
                <a:solidFill>
                  <a:srgbClr val="3B4540"/>
                </a:solidFill>
                <a:latin typeface="Fraunces Extra Bold" pitchFamily="34" charset="0"/>
              </a:rPr>
              <a:t>Пройдемося по кожній ітерації даного </a:t>
            </a:r>
            <a:r>
              <a:rPr lang="en-US" sz="2800" b="1" i="1" dirty="0" err="1">
                <a:solidFill>
                  <a:srgbClr val="3B4540"/>
                </a:solidFill>
                <a:latin typeface="Fraunces Extra Bold" pitchFamily="34" charset="0"/>
              </a:rPr>
              <a:t>списку</a:t>
            </a:r>
            <a:r>
              <a:rPr lang="en-US" sz="2800" b="1" i="1" dirty="0">
                <a:solidFill>
                  <a:srgbClr val="3B4540"/>
                </a:solidFill>
                <a:latin typeface="Fraunces Extra Bold" pitchFamily="34" charset="0"/>
              </a:rPr>
              <a:t>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014F8B-6636-28D6-0058-33496284E460}"/>
              </a:ext>
            </a:extLst>
          </p:cNvPr>
          <p:cNvSpPr txBox="1"/>
          <p:nvPr/>
        </p:nvSpPr>
        <p:spPr>
          <a:xfrm>
            <a:off x="793790" y="3628399"/>
            <a:ext cx="12917448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5688" indent="-342900" rtl="0" fontAlgn="base">
              <a:spcAft>
                <a:spcPts val="1200"/>
              </a:spcAft>
              <a:buFont typeface="+mj-lt"/>
              <a:buAutoNum type="arabicPeriod"/>
            </a:pP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Порівнюємо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перші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два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елементи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списку [</a:t>
            </a:r>
            <a:r>
              <a:rPr lang="ru-RU" sz="22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6, 12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4, 3, 8], 6&gt; 12?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Ні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ru-RU" sz="22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Залишаємо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елементи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місці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Результат: [6, 12, 4, 3, 8]</a:t>
            </a:r>
            <a:endParaRPr lang="ru-RU" sz="2200" dirty="0"/>
          </a:p>
          <a:p>
            <a:pPr marL="605688" indent="-342900" rtl="0">
              <a:spcAft>
                <a:spcPts val="1200"/>
              </a:spcAft>
              <a:buFont typeface="+mj-lt"/>
              <a:buAutoNum type="arabicPeriod"/>
            </a:pP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Порівнюємо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тепер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наступні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два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елементи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списку [6, </a:t>
            </a:r>
            <a:r>
              <a:rPr lang="ru-RU" sz="22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12, 4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3, 8], 12 &gt; 4? Так.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Міняємо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місцями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Результат: [6, 4, 12, 3, 8]</a:t>
            </a:r>
          </a:p>
          <a:p>
            <a:pPr marL="605688" indent="-342900" rtl="0">
              <a:spcAft>
                <a:spcPts val="1200"/>
              </a:spcAft>
              <a:buFont typeface="+mj-lt"/>
              <a:buAutoNum type="arabicPeriod"/>
            </a:pP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Порівнюємо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далі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наступні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два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елементи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списку [6, 4, </a:t>
            </a:r>
            <a:r>
              <a:rPr lang="ru-RU" sz="22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12, 3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8], 12 &gt; 3? Так.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Міняємо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місцями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Результат: [6, 4, 3, 12, 8]</a:t>
            </a:r>
          </a:p>
          <a:p>
            <a:pPr marL="605688" indent="-342900" rtl="0">
              <a:spcAft>
                <a:spcPts val="1200"/>
              </a:spcAft>
              <a:buFont typeface="+mj-lt"/>
              <a:buAutoNum type="arabicPeriod"/>
            </a:pP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Порівнюємо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останні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два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елементи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списку [6, 4, 3, </a:t>
            </a:r>
            <a:r>
              <a:rPr lang="ru-RU" sz="22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12, 8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], 12 &gt; 8? Так.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Міняємо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місцями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ru-RU" sz="2200" b="0" dirty="0">
              <a:effectLst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626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Друга ітерація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3789" y="13227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Під час </a:t>
            </a:r>
            <a:r>
              <a:rPr lang="en-US" sz="2000" b="1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другої ітерації</a:t>
            </a: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 зовнішнього циклу число </a:t>
            </a:r>
            <a:r>
              <a:rPr lang="en-US" sz="2400" b="1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8</a:t>
            </a: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 переміститься на передостаннє </a:t>
            </a:r>
            <a:r>
              <a:rPr lang="en-US" sz="2000" dirty="0" err="1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місце</a:t>
            </a: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.</a:t>
            </a:r>
            <a:endParaRPr lang="uk-UA" sz="2000" dirty="0">
              <a:solidFill>
                <a:srgbClr val="405449"/>
              </a:solidFill>
              <a:latin typeface="Nobile Medium" pitchFamily="34" charset="0"/>
              <a:ea typeface="Nobile Medium" pitchFamily="34" charset="-122"/>
              <a:cs typeface="Nobile Medium" pitchFamily="34" charset="-120"/>
            </a:endParaRPr>
          </a:p>
          <a:p>
            <a:pPr marL="0" indent="0" algn="l">
              <a:buNone/>
            </a:pPr>
            <a:r>
              <a:rPr lang="en-US" sz="2000" dirty="0" err="1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Для</a:t>
            </a: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 цього </a:t>
            </a:r>
            <a:r>
              <a:rPr lang="en-US" sz="2000" dirty="0" err="1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потрібно</a:t>
            </a: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 </a:t>
            </a:r>
            <a:r>
              <a:rPr lang="uk-UA" sz="2400" b="1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3</a:t>
            </a: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 порівняння: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799" y="531465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Результатом другої ітерації буде оновлений список: </a:t>
            </a:r>
            <a:r>
              <a:rPr lang="en-US" sz="24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[4, 3, 6, 8, 12]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EE4F97-5F60-128D-5FC0-E9A25BC260B5}"/>
              </a:ext>
            </a:extLst>
          </p:cNvPr>
          <p:cNvSpPr txBox="1"/>
          <p:nvPr/>
        </p:nvSpPr>
        <p:spPr>
          <a:xfrm>
            <a:off x="1041399" y="2599194"/>
            <a:ext cx="12217401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19988" indent="-457200" rtl="0" fontAlgn="base">
              <a:spcAft>
                <a:spcPts val="1200"/>
              </a:spcAft>
              <a:buFont typeface="+mj-lt"/>
              <a:buAutoNum type="arabicPeriod"/>
            </a:pP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Порівнюємо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перші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два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елементи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списку [</a:t>
            </a:r>
            <a:r>
              <a:rPr lang="ru-RU" sz="22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6, 4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3, 8, 12], 6&gt; 4? Так.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Міняємо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місцями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Результат: [4, 6, 3, 8, 12]</a:t>
            </a:r>
            <a:endParaRPr lang="ru-RU" sz="2200" b="0" dirty="0">
              <a:effectLst/>
            </a:endParaRPr>
          </a:p>
          <a:p>
            <a:pPr marL="719988" indent="-457200" rtl="0" fontAlgn="base">
              <a:spcAft>
                <a:spcPts val="1200"/>
              </a:spcAft>
              <a:buFont typeface="+mj-lt"/>
              <a:buAutoNum type="arabicPeriod"/>
            </a:pP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Порівнюємо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наступні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два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елементи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списку [4, </a:t>
            </a:r>
            <a:r>
              <a:rPr lang="ru-RU" sz="22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6, 3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8, 12], 6&gt; 3? Так.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Міняємо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місцями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Результат: [4, 3, 6, 8, 12]</a:t>
            </a:r>
            <a:endParaRPr lang="ru-RU" sz="2200" b="0" dirty="0">
              <a:effectLst/>
            </a:endParaRPr>
          </a:p>
          <a:p>
            <a:pPr marL="719988" indent="-457200" rtl="0" fontAlgn="base">
              <a:spcAft>
                <a:spcPts val="1200"/>
              </a:spcAft>
              <a:buFont typeface="+mj-lt"/>
              <a:buAutoNum type="arabicPeriod"/>
            </a:pP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Порівнюємо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наступні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два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елементи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списку [4, 3, </a:t>
            </a:r>
            <a:r>
              <a:rPr lang="ru-RU" sz="22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6, 8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12], 6&gt; 8?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Ні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Залишаємо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елементи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місці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ru-RU" sz="2200" dirty="0"/>
            </a:br>
            <a:endParaRPr lang="uk-UA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138" y="599242"/>
            <a:ext cx="459938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 err="1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Третя</a:t>
            </a:r>
            <a:r>
              <a:rPr lang="en-US" sz="2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та</a:t>
            </a:r>
            <a:r>
              <a:rPr lang="en-US" sz="2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четверта ітерації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40446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На </a:t>
            </a:r>
            <a:r>
              <a:rPr lang="en-US" sz="2000" b="1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третій ітерації</a:t>
            </a: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 зовнішнього циклу виключаються два останні елементи. Кількість ітерацій внутрішнього циклу дорівнює двом порівнянням: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3790" y="491024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На </a:t>
            </a:r>
            <a:r>
              <a:rPr lang="en-US" sz="2000" b="1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четвертій ітерації</a:t>
            </a:r>
            <a:r>
              <a:rPr lang="en-US" sz="2000" dirty="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 зовнішнього циклу залишилося порівняти лише перші два елементи, тому кількість ітерацій внутрішнього циклу дорівнює одиниці: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7469" y="687862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Результатом є відсортований список за зростанням: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[3, 4, 6, 8, 12]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E64191-515F-E2D2-2339-23E4633C10AD}"/>
              </a:ext>
            </a:extLst>
          </p:cNvPr>
          <p:cNvSpPr txBox="1"/>
          <p:nvPr/>
        </p:nvSpPr>
        <p:spPr>
          <a:xfrm>
            <a:off x="1133951" y="2364849"/>
            <a:ext cx="1216294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5688" indent="-342900" rtl="0" fontAlgn="base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Порівнюємо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перші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два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елементи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списку [</a:t>
            </a:r>
            <a:r>
              <a:rPr lang="ru-RU" sz="22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4, 3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6, 8, 12]</a:t>
            </a:r>
            <a:r>
              <a:rPr lang="ru-RU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4&gt; 3? Так.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Міняємо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місцями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Результат: [3, 4, 6, 8, 12]</a:t>
            </a:r>
            <a:endParaRPr lang="ru-RU" sz="2200" b="0" dirty="0">
              <a:effectLst/>
            </a:endParaRPr>
          </a:p>
          <a:p>
            <a:pPr marL="605688" indent="-342900" rtl="0" fontAlgn="base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Порівнюємо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наступні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два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елементи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списку [3, </a:t>
            </a:r>
            <a:r>
              <a:rPr lang="ru-RU" sz="22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4, 6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8, 12], 4&gt; 6?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Ні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Залишаємо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елементи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місці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uk-UA" sz="22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BEC5C15E-547A-6F9E-3722-B8068A0787AF}"/>
              </a:ext>
            </a:extLst>
          </p:cNvPr>
          <p:cNvSpPr/>
          <p:nvPr/>
        </p:nvSpPr>
        <p:spPr>
          <a:xfrm>
            <a:off x="1827469" y="402456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000" dirty="0" err="1">
                <a:solidFill>
                  <a:srgbClr val="405449"/>
                </a:solidFill>
                <a:latin typeface="Nobile Medium" pitchFamily="34" charset="0"/>
              </a:rPr>
              <a:t>Результатом</a:t>
            </a:r>
            <a:r>
              <a:rPr lang="en-US" sz="2000" dirty="0">
                <a:solidFill>
                  <a:srgbClr val="405449"/>
                </a:solidFill>
                <a:latin typeface="Nobile Medium" pitchFamily="34" charset="0"/>
              </a:rPr>
              <a:t> </a:t>
            </a:r>
            <a:r>
              <a:rPr lang="ru-RU" sz="2000" dirty="0" err="1">
                <a:solidFill>
                  <a:srgbClr val="405449"/>
                </a:solidFill>
                <a:latin typeface="Nobile Medium" pitchFamily="34" charset="0"/>
              </a:rPr>
              <a:t>третьої</a:t>
            </a:r>
            <a:r>
              <a:rPr lang="ru-RU" sz="2000" dirty="0">
                <a:solidFill>
                  <a:srgbClr val="405449"/>
                </a:solidFill>
                <a:latin typeface="Nobile Medium" pitchFamily="34" charset="0"/>
              </a:rPr>
              <a:t> </a:t>
            </a:r>
            <a:r>
              <a:rPr lang="ru-RU" sz="2000" dirty="0" err="1">
                <a:solidFill>
                  <a:srgbClr val="405449"/>
                </a:solidFill>
                <a:latin typeface="Nobile Medium" pitchFamily="34" charset="0"/>
              </a:rPr>
              <a:t>ітерації</a:t>
            </a:r>
            <a:r>
              <a:rPr lang="ru-RU" sz="2000" dirty="0">
                <a:solidFill>
                  <a:srgbClr val="405449"/>
                </a:solidFill>
                <a:latin typeface="Nobile Medium" pitchFamily="34" charset="0"/>
              </a:rPr>
              <a:t> буде: </a:t>
            </a:r>
            <a:r>
              <a:rPr lang="ru-RU" sz="2400" dirty="0">
                <a:solidFill>
                  <a:srgbClr val="405449"/>
                </a:solidFill>
                <a:latin typeface="Nobile Medium" pitchFamily="34" charset="0"/>
              </a:rPr>
              <a:t>[3, 4, 6, 8, 12]</a:t>
            </a:r>
            <a:endParaRPr lang="en-US" sz="2000" dirty="0">
              <a:solidFill>
                <a:srgbClr val="405449"/>
              </a:solidFill>
              <a:latin typeface="Nobile Medium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80D2D6-2205-3A29-CB7C-C6EA1486C614}"/>
              </a:ext>
            </a:extLst>
          </p:cNvPr>
          <p:cNvSpPr txBox="1"/>
          <p:nvPr/>
        </p:nvSpPr>
        <p:spPr>
          <a:xfrm>
            <a:off x="1228724" y="5778015"/>
            <a:ext cx="1206817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2798" rtl="0" fontAlgn="base">
              <a:spcBef>
                <a:spcPts val="600"/>
              </a:spcBef>
              <a:buFont typeface="+mj-lt"/>
              <a:buAutoNum type="arabicPeriod"/>
            </a:pP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Порівнюємо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перші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два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елементи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списку [</a:t>
            </a:r>
            <a:r>
              <a:rPr lang="ru-RU" sz="22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3, 4,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6, 8, 12], 3&gt; 4?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Ні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Залишаємо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елементи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місці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ru-RU" sz="2200" dirty="0"/>
            </a:br>
            <a:endParaRPr lang="uk-UA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C56F411E-6C83-1EF2-FE1C-1B25EEA81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939410"/>
            <a:ext cx="11201400" cy="6350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1815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8EB6A8-FBF7-4F56-8A9E-58CAFC08B928}"/>
              </a:ext>
            </a:extLst>
          </p:cNvPr>
          <p:cNvSpPr txBox="1"/>
          <p:nvPr/>
        </p:nvSpPr>
        <p:spPr>
          <a:xfrm>
            <a:off x="802158" y="542240"/>
            <a:ext cx="5329884" cy="768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uk-UA"/>
            </a:defPPr>
            <a:lvl1pPr indent="0">
              <a:lnSpc>
                <a:spcPts val="3150"/>
              </a:lnSpc>
              <a:buNone/>
              <a:defRPr sz="2800" b="1" i="1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defRPr>
            </a:lvl1pPr>
          </a:lstStyle>
          <a:p>
            <a:r>
              <a:rPr lang="uk-UA" dirty="0"/>
              <a:t>Практичне виконання розв’язку задачі: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68D5D5-D5A4-0F27-457B-454A3984276A}"/>
              </a:ext>
            </a:extLst>
          </p:cNvPr>
          <p:cNvSpPr txBox="1"/>
          <p:nvPr/>
        </p:nvSpPr>
        <p:spPr>
          <a:xfrm>
            <a:off x="1441450" y="1310532"/>
            <a:ext cx="11747500" cy="2450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uk-UA"/>
            </a:defPPr>
            <a:lvl1pPr indent="0" algn="just">
              <a:lnSpc>
                <a:spcPts val="2850"/>
              </a:lnSpc>
              <a:buNone/>
              <a:defRPr sz="2000">
                <a:solidFill>
                  <a:srgbClr val="405449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defRPr>
            </a:lvl1pPr>
          </a:lstStyle>
          <a:p>
            <a:pPr marL="342900" indent="-342900">
              <a:lnSpc>
                <a:spcPct val="100000"/>
              </a:lnSpc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uk-UA" dirty="0"/>
              <a:t>За допомогою редактора коду </a:t>
            </a:r>
            <a:r>
              <a:rPr lang="en-US" dirty="0"/>
              <a:t>Python </a:t>
            </a:r>
            <a:r>
              <a:rPr lang="uk-UA" dirty="0"/>
              <a:t>наберіть програмний код, запропонований нижче та перевірте результат виконання програми.</a:t>
            </a:r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uk-UA" dirty="0"/>
              <a:t>Проаналізуйте та порівняйте два варіанти реалізації алгоритму сортування мовою програмування </a:t>
            </a:r>
            <a:r>
              <a:rPr lang="en-US" dirty="0"/>
              <a:t>Python.</a:t>
            </a:r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uk-UA" dirty="0"/>
              <a:t>Зробіть висновок, який з цих двох варіантів програми вам був зрозумілішим.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87D7A7-B435-1596-F213-5797516A739B}"/>
              </a:ext>
            </a:extLst>
          </p:cNvPr>
          <p:cNvSpPr txBox="1"/>
          <p:nvPr/>
        </p:nvSpPr>
        <p:spPr>
          <a:xfrm>
            <a:off x="2209800" y="3633838"/>
            <a:ext cx="7315200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600"/>
              </a:spcAft>
              <a:buNone/>
            </a:pPr>
            <a:r>
              <a:rPr lang="en-US" sz="2000" b="1" i="0" u="none" strike="noStrike" dirty="0" err="1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За</a:t>
            </a:r>
            <a:r>
              <a:rPr lang="en-US" sz="2000" b="1" i="0" u="none" strike="noStrike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1" i="0" u="none" strike="noStrike" dirty="0" err="1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допомогою</a:t>
            </a:r>
            <a:r>
              <a:rPr lang="en-US" sz="2000" b="1" i="0" u="none" strike="noStrike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1" i="0" u="none" strike="noStrike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циклу</a:t>
            </a:r>
            <a:r>
              <a:rPr lang="en-US" sz="2000" b="1" i="0" u="none" strike="noStrike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for</a:t>
            </a:r>
            <a:r>
              <a:rPr lang="en-US" sz="2000" b="1" i="0" u="none" strike="noStrike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lang="en-US" sz="2000" b="1" dirty="0"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pPr rtl="0">
              <a:buNone/>
            </a:pPr>
            <a:r>
              <a:rPr lang="en-US" sz="2000" b="1" i="0" u="none" strike="noStrike" dirty="0">
                <a:solidFill>
                  <a:srgbClr val="073763"/>
                </a:solidFill>
                <a:effectLst/>
                <a:latin typeface="Courier New" panose="02070309020205020404" pitchFamily="49" charset="0"/>
              </a:rPr>
              <a:t>n = 5</a:t>
            </a:r>
            <a:endParaRPr lang="en-US" sz="2000" b="0" dirty="0">
              <a:effectLst/>
            </a:endParaRPr>
          </a:p>
          <a:p>
            <a:pPr rtl="0">
              <a:buNone/>
            </a:pPr>
            <a:r>
              <a:rPr lang="en-US" sz="2000" b="1" i="0" u="none" strike="noStrike" dirty="0">
                <a:solidFill>
                  <a:srgbClr val="073763"/>
                </a:solidFill>
                <a:effectLst/>
                <a:latin typeface="Courier New" panose="02070309020205020404" pitchFamily="49" charset="0"/>
              </a:rPr>
              <a:t>a = [6,12,4,3,8]</a:t>
            </a:r>
            <a:endParaRPr lang="en-US" sz="2000" b="0" dirty="0">
              <a:effectLst/>
            </a:endParaRPr>
          </a:p>
          <a:p>
            <a:pPr rtl="0">
              <a:buNone/>
            </a:pPr>
            <a:r>
              <a:rPr lang="en-US" sz="2000" b="1" i="0" u="none" strike="noStrike" dirty="0">
                <a:solidFill>
                  <a:srgbClr val="073763"/>
                </a:solidFill>
                <a:effectLst/>
                <a:latin typeface="Courier New" panose="02070309020205020404" pitchFamily="49" charset="0"/>
              </a:rPr>
              <a:t>print(a)</a:t>
            </a:r>
            <a:endParaRPr lang="en-US" sz="2000" b="0" dirty="0">
              <a:effectLst/>
            </a:endParaRPr>
          </a:p>
          <a:p>
            <a:pPr>
              <a:buNone/>
            </a:pPr>
            <a:br>
              <a:rPr lang="en-US" sz="2000" b="0" dirty="0">
                <a:effectLst/>
              </a:rPr>
            </a:br>
            <a:r>
              <a:rPr lang="en-US" sz="2000" b="1" i="0" u="none" strike="noStrike" dirty="0">
                <a:solidFill>
                  <a:srgbClr val="073763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sz="2000" b="1" i="0" u="none" strike="noStrike" dirty="0" err="1">
                <a:solidFill>
                  <a:srgbClr val="073763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2000" b="1" i="0" u="none" strike="noStrike" dirty="0">
                <a:solidFill>
                  <a:srgbClr val="073763"/>
                </a:solidFill>
                <a:effectLst/>
                <a:latin typeface="Courier New" panose="02070309020205020404" pitchFamily="49" charset="0"/>
              </a:rPr>
              <a:t> in range(n-1):</a:t>
            </a:r>
            <a:endParaRPr lang="en-US" sz="2000" b="0" dirty="0">
              <a:effectLst/>
            </a:endParaRPr>
          </a:p>
          <a:p>
            <a:pPr rtl="0">
              <a:buNone/>
            </a:pPr>
            <a:r>
              <a:rPr lang="en-US" sz="2000" b="1" i="0" u="none" strike="noStrike" dirty="0">
                <a:solidFill>
                  <a:srgbClr val="073763"/>
                </a:solidFill>
                <a:effectLst/>
                <a:latin typeface="Courier New" panose="02070309020205020404" pitchFamily="49" charset="0"/>
              </a:rPr>
              <a:t>     for j in range(n-i-1):</a:t>
            </a:r>
            <a:endParaRPr lang="en-US" sz="2000" b="0" dirty="0">
              <a:effectLst/>
            </a:endParaRPr>
          </a:p>
          <a:p>
            <a:pPr rtl="0">
              <a:buNone/>
            </a:pPr>
            <a:r>
              <a:rPr lang="en-US" sz="2000" b="1" i="0" u="none" strike="noStrike" dirty="0">
                <a:solidFill>
                  <a:srgbClr val="073763"/>
                </a:solidFill>
                <a:effectLst/>
                <a:latin typeface="Courier New" panose="02070309020205020404" pitchFamily="49" charset="0"/>
              </a:rPr>
              <a:t>          if a[j] &gt; a[j+1]:</a:t>
            </a:r>
            <a:endParaRPr lang="en-US" sz="2000" b="0" dirty="0">
              <a:effectLst/>
            </a:endParaRPr>
          </a:p>
          <a:p>
            <a:pPr rtl="0">
              <a:buNone/>
            </a:pPr>
            <a:r>
              <a:rPr lang="en-US" sz="2000" b="1" i="0" u="none" strike="noStrike" dirty="0">
                <a:solidFill>
                  <a:srgbClr val="073763"/>
                </a:solidFill>
                <a:effectLst/>
                <a:latin typeface="Courier New" panose="02070309020205020404" pitchFamily="49" charset="0"/>
              </a:rPr>
              <a:t>              a[j], a[j+1] = a[j+1], a[j]</a:t>
            </a:r>
            <a:endParaRPr lang="en-US" sz="2000" b="0" dirty="0">
              <a:effectLst/>
            </a:endParaRPr>
          </a:p>
          <a:p>
            <a:pPr rtl="0">
              <a:buNone/>
            </a:pPr>
            <a:r>
              <a:rPr lang="en-US" sz="2000" b="1" i="0" u="none" strike="noStrike" dirty="0">
                <a:solidFill>
                  <a:srgbClr val="073763"/>
                </a:solidFill>
                <a:effectLst/>
                <a:latin typeface="Courier New" panose="02070309020205020404" pitchFamily="49" charset="0"/>
              </a:rPr>
              <a:t>print(a)</a:t>
            </a:r>
            <a:endParaRPr lang="en-US" sz="2000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uk-UA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B669A4A-94AF-E598-4657-20443F670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0536" y="3871068"/>
            <a:ext cx="2450306" cy="2450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5901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CD1CD-587D-FDD0-9273-F59D4175E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63A2AD-182F-CE91-EA10-A077DEE6B0F0}"/>
              </a:ext>
            </a:extLst>
          </p:cNvPr>
          <p:cNvSpPr txBox="1"/>
          <p:nvPr/>
        </p:nvSpPr>
        <p:spPr>
          <a:xfrm>
            <a:off x="802158" y="542240"/>
            <a:ext cx="5329884" cy="768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uk-UA"/>
            </a:defPPr>
            <a:lvl1pPr indent="0">
              <a:lnSpc>
                <a:spcPts val="3150"/>
              </a:lnSpc>
              <a:buNone/>
              <a:defRPr sz="2800" b="1" i="1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defRPr>
            </a:lvl1pPr>
          </a:lstStyle>
          <a:p>
            <a:r>
              <a:rPr lang="uk-UA" dirty="0"/>
              <a:t>Практичне виконання розв’язку задачі: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85DD608-1CFE-D877-59AF-F659DCB8C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4636" y="2181968"/>
            <a:ext cx="2450306" cy="2450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BCF529-DF38-02B4-AFD8-3AD202324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558" y="1772196"/>
            <a:ext cx="6186309" cy="4570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uk-UA" altLang="uk-UA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За допомогою </a:t>
            </a:r>
            <a:r>
              <a:rPr lang="uk-UA" altLang="uk-UA" sz="20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циклу </a:t>
            </a:r>
            <a:r>
              <a:rPr lang="uk-UA" altLang="uk-UA" sz="20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while</a:t>
            </a:r>
            <a:r>
              <a:rPr lang="uk-UA" altLang="uk-UA" sz="20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rgbClr val="0737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 = 5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rgbClr val="0737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= [6,12,4,3,8]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rgbClr val="0737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rgbClr val="0737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rgbClr val="0737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 = 0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rgbClr val="0737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rgbClr val="0737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 &lt; n - 1: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rgbClr val="0737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j = 0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rgbClr val="0737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rgbClr val="0737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rgbClr val="0737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j &lt; n - 1 - i: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rgbClr val="0737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rgbClr val="0737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rgbClr val="0737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a[j] &gt; a[j+1]: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rgbClr val="0737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a[j], a[j+1] = a[j+1], a[j]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rgbClr val="0737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j += 1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rgbClr val="0737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i += 1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rgbClr val="0737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rgbClr val="0737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  <a:endParaRPr lang="uk-UA" altLang="uk-UA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00988E-19D3-2C21-6270-EA60839D52CF}"/>
              </a:ext>
            </a:extLst>
          </p:cNvPr>
          <p:cNvSpPr txBox="1"/>
          <p:nvPr/>
        </p:nvSpPr>
        <p:spPr>
          <a:xfrm>
            <a:off x="1117600" y="6785470"/>
            <a:ext cx="128397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uk-UA" altLang="uk-UA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 Додаткове самостійне завдання: зробити можливість вводу елементів масиву з використанням </a:t>
            </a:r>
            <a:r>
              <a:rPr lang="uk-UA" altLang="uk-UA" sz="20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функції </a:t>
            </a:r>
            <a:r>
              <a:rPr lang="uk-UA" altLang="uk-UA" sz="20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input</a:t>
            </a:r>
            <a:r>
              <a:rPr lang="uk-UA" altLang="uk-UA" sz="20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( )</a:t>
            </a:r>
          </a:p>
        </p:txBody>
      </p:sp>
    </p:spTree>
    <p:extLst>
      <p:ext uri="{BB962C8B-B14F-4D97-AF65-F5344CB8AC3E}">
        <p14:creationId xmlns:p14="http://schemas.microsoft.com/office/powerpoint/2010/main" val="2019295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558143" y="349004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6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Висновок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2558143" y="4341483"/>
            <a:ext cx="9154886" cy="1955602"/>
          </a:xfrm>
          <a:prstGeom prst="roundRect">
            <a:avLst>
              <a:gd name="adj" fmla="val 8452"/>
            </a:avLst>
          </a:prstGeom>
          <a:solidFill>
            <a:srgbClr val="CCE6D1"/>
          </a:solidFill>
          <a:ln/>
        </p:spPr>
      </p:sp>
      <p:sp>
        <p:nvSpPr>
          <p:cNvPr id="4" name="Text 1"/>
          <p:cNvSpPr/>
          <p:nvPr/>
        </p:nvSpPr>
        <p:spPr>
          <a:xfrm>
            <a:off x="2703287" y="4625945"/>
            <a:ext cx="8663213" cy="1955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2850"/>
              </a:lnSpc>
            </a:pP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Таким чином, можна сказати, що це є достатньо простий алгоритм сортування, який полягає в циклічних проходах по списку або масиву до тих пір, поки елементами не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будуть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latin typeface="Fraunces Extra Bold" pitchFamily="34" charset="0"/>
              </a:rPr>
              <a:t>впорядковані</a:t>
            </a: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</a:rPr>
              <a:t>.</a:t>
            </a:r>
          </a:p>
        </p:txBody>
      </p:sp>
      <p:pic>
        <p:nvPicPr>
          <p:cNvPr id="2050" name="Picture 2" descr="Свято до тижня природничих наук &quot;Шоу мильних бульбашок&quot;">
            <a:extLst>
              <a:ext uri="{FF2B5EF4-FFF2-40B4-BE49-F238E27FC236}">
                <a16:creationId xmlns:a16="http://schemas.microsoft.com/office/drawing/2014/main" id="{B10C9D0A-8497-A762-D075-A81D543AE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782" y="399421"/>
            <a:ext cx="5895975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1402</Words>
  <Application>Microsoft Office PowerPoint</Application>
  <PresentationFormat>Довільний</PresentationFormat>
  <Paragraphs>102</Paragraphs>
  <Slides>15</Slides>
  <Notes>12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15</vt:i4>
      </vt:variant>
    </vt:vector>
  </HeadingPairs>
  <TitlesOfParts>
    <vt:vector size="21" baseType="lpstr">
      <vt:lpstr>Nobile Medium</vt:lpstr>
      <vt:lpstr>Courier New</vt:lpstr>
      <vt:lpstr>Wingdings</vt:lpstr>
      <vt:lpstr>Fraunces Extra Bold</vt:lpstr>
      <vt:lpstr>Arial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 S U S</cp:lastModifiedBy>
  <cp:revision>17</cp:revision>
  <dcterms:created xsi:type="dcterms:W3CDTF">2025-10-20T14:53:02Z</dcterms:created>
  <dcterms:modified xsi:type="dcterms:W3CDTF">2026-10-18T21:09:40Z</dcterms:modified>
</cp:coreProperties>
</file>