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304" autoAdjust="0"/>
  </p:normalViewPr>
  <p:slideViewPr>
    <p:cSldViewPr snapToGrid="0">
      <p:cViewPr varScale="1">
        <p:scale>
          <a:sx n="75" d="100"/>
          <a:sy n="75" d="100"/>
        </p:scale>
        <p:origin x="93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6E5F7-75AF-436B-9A9F-1F5A106A0DE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317B9-B0C3-495E-9C2F-A615CE99614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165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317B9-B0C3-495E-9C2F-A615CE99614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134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aurok.com.ua/informaciya-vlastivosti-i-formi-334236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20240" y="932688"/>
            <a:ext cx="10058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err="1">
                <a:latin typeface="Impact" panose="020B0806030902050204" pitchFamily="34" charset="0"/>
              </a:rPr>
              <a:t>Інформація</a:t>
            </a:r>
            <a:r>
              <a:rPr lang="ru-RU" sz="3600" dirty="0">
                <a:latin typeface="Impact" panose="020B0806030902050204" pitchFamily="34" charset="0"/>
              </a:rPr>
              <a:t>, </a:t>
            </a:r>
            <a:r>
              <a:rPr lang="ru-RU" sz="3600" dirty="0" err="1">
                <a:latin typeface="Impact" panose="020B0806030902050204" pitchFamily="34" charset="0"/>
              </a:rPr>
              <a:t>її</a:t>
            </a:r>
            <a:r>
              <a:rPr lang="ru-RU" sz="3600" dirty="0">
                <a:latin typeface="Impact" panose="020B0806030902050204" pitchFamily="34" charset="0"/>
              </a:rPr>
              <a:t> </a:t>
            </a:r>
            <a:r>
              <a:rPr lang="ru-RU" sz="3600" dirty="0" err="1">
                <a:latin typeface="Impact" panose="020B0806030902050204" pitchFamily="34" charset="0"/>
              </a:rPr>
              <a:t>властивості</a:t>
            </a:r>
            <a:r>
              <a:rPr lang="ru-RU" sz="3600" dirty="0">
                <a:latin typeface="Impact" panose="020B0806030902050204" pitchFamily="34" charset="0"/>
              </a:rPr>
              <a:t> і </a:t>
            </a:r>
            <a:r>
              <a:rPr lang="ru-RU" sz="3600" dirty="0" err="1">
                <a:latin typeface="Impact" panose="020B0806030902050204" pitchFamily="34" charset="0"/>
              </a:rPr>
              <a:t>форми</a:t>
            </a:r>
            <a:r>
              <a:rPr lang="ru-RU" sz="3600" dirty="0">
                <a:latin typeface="Impact" panose="020B0806030902050204" pitchFamily="34" charset="0"/>
              </a:rPr>
              <a:t>.</a:t>
            </a:r>
          </a:p>
          <a:p>
            <a:r>
              <a:rPr lang="ru-RU" sz="3600" dirty="0">
                <a:latin typeface="Impact" panose="020B0806030902050204" pitchFamily="34" charset="0"/>
              </a:rPr>
              <a:t>Текст і </a:t>
            </a:r>
            <a:r>
              <a:rPr lang="ru-RU" sz="3600" dirty="0" err="1">
                <a:latin typeface="Impact" panose="020B0806030902050204" pitchFamily="34" charset="0"/>
              </a:rPr>
              <a:t>медіатекст</a:t>
            </a:r>
            <a:endParaRPr lang="ru-RU" sz="3600" dirty="0">
              <a:latin typeface="Impact" panose="020B080603090205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048000" y="3105835"/>
            <a:ext cx="880262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uk-UA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uk-UA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uk-UA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uk-U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Підготувала </a:t>
            </a:r>
          </a:p>
          <a:p>
            <a:pPr algn="r"/>
            <a:r>
              <a:rPr lang="uk-U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вчитель історії </a:t>
            </a:r>
            <a:r>
              <a:rPr lang="uk-UA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Артюх</a:t>
            </a:r>
            <a:r>
              <a:rPr lang="uk-U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О.М.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22C0A-C057-8D48-5639-ABC78F9C9302}"/>
              </a:ext>
            </a:extLst>
          </p:cNvPr>
          <p:cNvSpPr txBox="1"/>
          <p:nvPr/>
        </p:nvSpPr>
        <p:spPr>
          <a:xfrm>
            <a:off x="1828800" y="6325422"/>
            <a:ext cx="1073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Матеріал взятий з сайту </a:t>
            </a:r>
            <a:r>
              <a:rPr lang="en-US" dirty="0">
                <a:hlinkClick r:id="rId3"/>
              </a:rPr>
              <a:t>https://naurok.com.ua/informaciya-vlastivosti-i-formi-334236.html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29812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61872" y="1"/>
            <a:ext cx="78821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079EDB"/>
                </a:solidFill>
                <a:latin typeface="MyriadPro-Bold"/>
              </a:rPr>
              <a:t>1. </a:t>
            </a:r>
            <a:r>
              <a:rPr lang="ru-RU" sz="3200" b="1" dirty="0" err="1">
                <a:solidFill>
                  <a:srgbClr val="079EDB"/>
                </a:solidFill>
                <a:latin typeface="MyriadPro-Bold"/>
              </a:rPr>
              <a:t>Поняття</a:t>
            </a:r>
            <a:r>
              <a:rPr lang="ru-RU" sz="3200" b="1" dirty="0">
                <a:solidFill>
                  <a:srgbClr val="079EDB"/>
                </a:solidFill>
                <a:latin typeface="MyriadPro-Bold"/>
              </a:rPr>
              <a:t> </a:t>
            </a:r>
            <a:r>
              <a:rPr lang="ru-RU" sz="3200" b="1" dirty="0" err="1">
                <a:solidFill>
                  <a:srgbClr val="079EDB"/>
                </a:solidFill>
                <a:latin typeface="MyriadPro-Bold"/>
              </a:rPr>
              <a:t>інформації</a:t>
            </a:r>
            <a:r>
              <a:rPr lang="ru-RU" sz="3200" dirty="0"/>
              <a:t> 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517904" y="786384"/>
            <a:ext cx="10442448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Слово «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походить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латинського</a:t>
            </a:r>
            <a:b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слова </a:t>
            </a:r>
            <a:r>
              <a:rPr lang="en-US" sz="2800" i="1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</a:t>
            </a:r>
            <a:r>
              <a:rPr lang="en-US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перекладається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як «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відомості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»,«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роз’яснення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», «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виклад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поняття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багато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значень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Усе наше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життя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пов’язане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інформацією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Ми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отримуємо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споживаємо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інформацію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коли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спілкуємося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іншими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людьми,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дивимося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телевізор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читаємо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просто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споглядаємо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навколишній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світ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створюємо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передаємо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інформацію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коли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пишемо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листа,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розповідаємо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одне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одному про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якісь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події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Ми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використовуємо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інформацію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коли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збираємося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школи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плануємо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подорож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канікулах,розв’язуємо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завдання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тощо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Отже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людина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одночасно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отримувачем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споживачем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творцем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передавачем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сучасному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світі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вважається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одним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ключових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елементів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розвитку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суспільства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Тому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сучасний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етап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розвитку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суспільства</a:t>
            </a:r>
            <a:r>
              <a:rPr lang="ru-RU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називають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інформаційним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88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895344" y="694944"/>
            <a:ext cx="6528816" cy="9325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</a:t>
            </a:r>
            <a:r>
              <a:rPr lang="ru-RU" sz="2400" b="1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новини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факти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знання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отримані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результаті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пошуку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вивчення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спілкування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тощо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</a:t>
            </a:r>
            <a:r>
              <a:rPr lang="ru-RU" sz="2400" b="1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відомості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об’єкти</a:t>
            </a:r>
            <a:b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явища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навколишнього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світу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їхні</a:t>
            </a:r>
            <a:b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властивості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підвищують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b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обізнаності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людини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</a:t>
            </a:r>
            <a:r>
              <a:rPr lang="ru-RU" sz="2400" b="1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загальнонаукове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поняття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яке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включає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обмін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відомостями</a:t>
            </a:r>
            <a:b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людьми,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людиною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автоматичним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пристроєм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автоматичними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пристроями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обмін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сигналами</a:t>
            </a:r>
            <a:b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тваринному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рослинному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світі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 err="1">
                <a:solidFill>
                  <a:srgbClr val="EE1D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Цікаво</a:t>
            </a:r>
            <a:r>
              <a:rPr lang="ru-RU" sz="2400" b="1" dirty="0">
                <a:solidFill>
                  <a:srgbClr val="EE1D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знати</a:t>
            </a:r>
            <a:br>
              <a:rPr lang="ru-RU" sz="2400" b="1" dirty="0">
                <a:solidFill>
                  <a:srgbClr val="EE1D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Сучасне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наукове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визначення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дуже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точно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сформулював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засновник</a:t>
            </a:r>
            <a:b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кібернетики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Норберт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Вінер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Кібернетика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наука, яка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вивчає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загальні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закони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передавання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й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перетворення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складнихсистемах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Вчений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зазначав,що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позначення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змісту,отриманого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зовнішнього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світу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нашого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пристосування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нього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й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пристосування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нього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наших </a:t>
            </a:r>
            <a:r>
              <a:rPr lang="ru-RU" sz="24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почуттів</a:t>
            </a:r>
            <a:r>
              <a:rPr lang="ru-RU" sz="24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3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82496" y="124750"/>
            <a:ext cx="78638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079EDB"/>
                </a:solidFill>
                <a:latin typeface="MyriadPro-Bold"/>
              </a:rPr>
              <a:t>2. </a:t>
            </a:r>
            <a:r>
              <a:rPr lang="ru-RU" sz="3200" b="1" dirty="0" err="1">
                <a:solidFill>
                  <a:srgbClr val="079EDB"/>
                </a:solidFill>
                <a:latin typeface="MyriadPro-Bold"/>
              </a:rPr>
              <a:t>Властивості</a:t>
            </a:r>
            <a:r>
              <a:rPr lang="ru-RU" sz="3200" b="1" dirty="0">
                <a:solidFill>
                  <a:srgbClr val="079EDB"/>
                </a:solidFill>
                <a:latin typeface="MyriadPro-Bold"/>
              </a:rPr>
              <a:t> </a:t>
            </a:r>
            <a:r>
              <a:rPr lang="ru-RU" sz="3200" b="1" dirty="0" err="1">
                <a:solidFill>
                  <a:srgbClr val="079EDB"/>
                </a:solidFill>
                <a:latin typeface="MyriadPro-Bold"/>
              </a:rPr>
              <a:t>інформації</a:t>
            </a:r>
            <a:r>
              <a:rPr lang="ru-RU" sz="3200" b="1" dirty="0">
                <a:solidFill>
                  <a:srgbClr val="079EDB"/>
                </a:solidFill>
                <a:latin typeface="MyriadPro-Bold"/>
              </a:rPr>
              <a:t>.</a:t>
            </a:r>
            <a:r>
              <a:rPr lang="ru-RU" sz="3200" dirty="0"/>
              <a:t> 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249424" y="493776"/>
            <a:ext cx="524865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 </a:t>
            </a:r>
          </a:p>
          <a:p>
            <a:pPr>
              <a:lnSpc>
                <a:spcPct val="150000"/>
              </a:lnSpc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Повнота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Достовірність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Зрозумілість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Своєчасність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Об’єктивність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Корисність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403547" y="893247"/>
            <a:ext cx="26692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</a:t>
            </a:r>
            <a:endParaRPr lang="ru-RU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23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493776"/>
            <a:ext cx="9710928" cy="53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265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09344" y="329185"/>
            <a:ext cx="75346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79EDB"/>
                </a:solidFill>
                <a:latin typeface="MyriadPro-Bold"/>
              </a:rPr>
              <a:t>3. </a:t>
            </a:r>
            <a:r>
              <a:rPr lang="ru-RU" sz="2400" b="1" dirty="0" err="1">
                <a:solidFill>
                  <a:srgbClr val="079EDB"/>
                </a:solidFill>
                <a:latin typeface="MyriadPro-Bold"/>
              </a:rPr>
              <a:t>Форми</a:t>
            </a:r>
            <a:r>
              <a:rPr lang="ru-RU" sz="2400" b="1" dirty="0">
                <a:solidFill>
                  <a:srgbClr val="079EDB"/>
                </a:solidFill>
                <a:latin typeface="MyriadPro-Bold"/>
              </a:rPr>
              <a:t> </a:t>
            </a:r>
            <a:r>
              <a:rPr lang="ru-RU" sz="2400" b="1" dirty="0" err="1">
                <a:solidFill>
                  <a:srgbClr val="079EDB"/>
                </a:solidFill>
                <a:latin typeface="MyriadPro-Bold"/>
              </a:rPr>
              <a:t>існування</a:t>
            </a:r>
            <a:r>
              <a:rPr lang="ru-RU" sz="2400" b="1" dirty="0">
                <a:solidFill>
                  <a:srgbClr val="079EDB"/>
                </a:solidFill>
                <a:latin typeface="MyriadPro-Bold"/>
              </a:rPr>
              <a:t> </a:t>
            </a:r>
            <a:r>
              <a:rPr lang="ru-RU" sz="2400" b="1" dirty="0" err="1">
                <a:solidFill>
                  <a:srgbClr val="079EDB"/>
                </a:solidFill>
                <a:latin typeface="MyriadPro-Bold"/>
              </a:rPr>
              <a:t>інформації</a:t>
            </a:r>
            <a:r>
              <a:rPr lang="ru-RU" sz="2400" b="1" dirty="0">
                <a:solidFill>
                  <a:srgbClr val="079EDB"/>
                </a:solidFill>
                <a:latin typeface="MyriadPro-Bold"/>
              </a:rPr>
              <a:t>.</a:t>
            </a:r>
            <a:r>
              <a:rPr lang="ru-RU" sz="2400" dirty="0"/>
              <a:t> </a:t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49808" y="889844"/>
            <a:ext cx="109910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бути подана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лише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вигляді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повідомлень</a:t>
            </a:r>
            <a:r>
              <a:rPr lang="ru-RU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найпростішої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існування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Словник</a:t>
            </a: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певний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набір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яку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можна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відокремити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решти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890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05840" y="843677"/>
            <a:ext cx="1093622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079EDB"/>
                </a:solidFill>
                <a:latin typeface="FreeSetBoldC"/>
              </a:rPr>
              <a:t>                </a:t>
            </a:r>
            <a:r>
              <a:rPr lang="ru-RU" sz="2800" b="1" dirty="0" err="1">
                <a:solidFill>
                  <a:srgbClr val="EE1D25"/>
                </a:solidFill>
                <a:latin typeface="MyriadPro-Bold"/>
              </a:rPr>
              <a:t>Цікаво</a:t>
            </a:r>
            <a:r>
              <a:rPr lang="ru-RU" sz="2800" b="1" dirty="0">
                <a:solidFill>
                  <a:srgbClr val="EE1D25"/>
                </a:solidFill>
                <a:latin typeface="MyriadPro-Bold"/>
              </a:rPr>
              <a:t> знати</a:t>
            </a:r>
            <a:br>
              <a:rPr lang="ru-RU" sz="2800" b="1" dirty="0">
                <a:solidFill>
                  <a:srgbClr val="EE1D25"/>
                </a:solidFill>
                <a:latin typeface="MyriadPro-Bold"/>
              </a:rPr>
            </a:b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передачі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повідомлень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часто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використовують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систему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кодування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Одназ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них </a:t>
            </a:r>
            <a:r>
              <a:rPr lang="ru-RU" sz="3200" i="1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азбука Морзе. </a:t>
            </a:r>
            <a:r>
              <a:rPr lang="ru-RU" sz="3200" i="1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кодуванні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повідомлень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допомогою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азбуки Морзе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наявні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два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крапка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і тире.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Такий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вид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кодування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називається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двійковим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Двійкове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кодування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застосовується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сучасних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</a:t>
            </a:r>
            <a:r>
              <a:rPr lang="ru-RU" sz="3200" i="1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ютерах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них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повідомлення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подаються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кодуються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у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вигляді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послідовностей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електричних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магнітних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сигналів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двох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видів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Кожен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сигнал одного виду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умовно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позначається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цифрою 0,а другого виду </a:t>
            </a:r>
            <a:r>
              <a:rPr lang="ru-RU" sz="3200" i="1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635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98448" y="475489"/>
            <a:ext cx="1047902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079EDB"/>
                </a:solidFill>
                <a:latin typeface="MyriadPro-Bold"/>
              </a:rPr>
              <a:t>4. </a:t>
            </a:r>
            <a:r>
              <a:rPr lang="ru-RU" sz="3200" b="1" dirty="0" err="1">
                <a:solidFill>
                  <a:srgbClr val="079EDB"/>
                </a:solidFill>
                <a:latin typeface="MyriadPro-Bold"/>
              </a:rPr>
              <a:t>Поширення</a:t>
            </a:r>
            <a:r>
              <a:rPr lang="ru-RU" sz="3200" b="1" dirty="0">
                <a:solidFill>
                  <a:srgbClr val="079EDB"/>
                </a:solidFill>
                <a:latin typeface="MyriadPro-Bold"/>
              </a:rPr>
              <a:t> </a:t>
            </a:r>
            <a:r>
              <a:rPr lang="ru-RU" sz="3200" b="1" dirty="0" err="1">
                <a:solidFill>
                  <a:srgbClr val="079EDB"/>
                </a:solidFill>
                <a:latin typeface="MyriadPro-Bold"/>
              </a:rPr>
              <a:t>інформації</a:t>
            </a:r>
            <a:r>
              <a:rPr lang="ru-RU" sz="3200" dirty="0"/>
              <a:t> </a:t>
            </a:r>
            <a:br>
              <a:rPr lang="ru-RU" sz="3200" dirty="0"/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Поширення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відбуватися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двох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формах — </a:t>
            </a:r>
            <a:r>
              <a:rPr lang="ru-RU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фактичного </a:t>
            </a:r>
            <a:r>
              <a:rPr lang="ru-RU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твердження</a:t>
            </a:r>
            <a:r>
              <a:rPr lang="ru-RU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фактів</a:t>
            </a:r>
            <a:r>
              <a:rPr lang="ru-RU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оціночного</a:t>
            </a:r>
            <a:r>
              <a:rPr lang="ru-RU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судження</a:t>
            </a:r>
            <a:r>
              <a:rPr lang="ru-RU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Оціночними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судженнями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висловлювання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містять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фактичних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критика,</a:t>
            </a: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оцінка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також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висловлювання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вживанням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порівнянь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перебільшень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тощо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До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оціночних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суджень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належить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наклеп —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свідоме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поширення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неправдивої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09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20240" y="1"/>
            <a:ext cx="72237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79EDB"/>
                </a:solidFill>
                <a:latin typeface="MyriadPro-Bold"/>
              </a:rPr>
              <a:t> </a:t>
            </a:r>
            <a:endParaRPr lang="ru-RU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371600" y="954109"/>
            <a:ext cx="7772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Доведення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споживача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будь­який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спосіб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поширення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2029968"/>
            <a:ext cx="7095743" cy="391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55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72768" y="420625"/>
            <a:ext cx="757123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079EDB"/>
                </a:solidFill>
                <a:latin typeface="MyriadPro-Bold"/>
              </a:rPr>
              <a:t>5. Текст та </a:t>
            </a:r>
            <a:r>
              <a:rPr lang="ru-RU" sz="3200" b="1" dirty="0" err="1">
                <a:solidFill>
                  <a:srgbClr val="079EDB"/>
                </a:solidFill>
                <a:latin typeface="MyriadPro-Bold"/>
              </a:rPr>
              <a:t>медіатекст</a:t>
            </a:r>
            <a:r>
              <a:rPr lang="ru-RU" sz="3200" b="1" dirty="0">
                <a:solidFill>
                  <a:srgbClr val="079EDB"/>
                </a:solidFill>
                <a:latin typeface="MyriadPro-Bold"/>
              </a:rPr>
              <a:t>.</a:t>
            </a:r>
            <a:r>
              <a:rPr lang="ru-RU" sz="3200" dirty="0"/>
              <a:t> </a:t>
            </a:r>
            <a:br>
              <a:rPr lang="ru-RU" sz="3200" dirty="0"/>
            </a:br>
            <a:r>
              <a:rPr lang="ru-RU" sz="3200" b="1" dirty="0">
                <a:solidFill>
                  <a:srgbClr val="FF0000"/>
                </a:solidFill>
              </a:rPr>
              <a:t>СЛОВНИК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19456" y="1720840"/>
            <a:ext cx="1172260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Медіа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засоби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будь-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якої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будь-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якою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метою.</a:t>
            </a:r>
          </a:p>
          <a:p>
            <a:r>
              <a:rPr lang="ru-RU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Медіатекст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будь-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носій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художній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науковий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текст,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аудіозапис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Тобто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цьому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слово «текст» не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передбачає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набір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слів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речень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увазі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певну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інформацію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вигляді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тексту,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звуків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переданих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будь-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якими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засобами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й знаками,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сприйняти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зрозуміти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споживач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медіатексту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357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50976" y="237744"/>
            <a:ext cx="1084478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сучасному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світі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масмедіа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відіграють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роль основного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передавача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й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поширювача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людей.</a:t>
            </a: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Проте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вони не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лише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повідомляють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щось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але й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пропонують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ставитися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певним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чином.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Завдяки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цьому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вони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мають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унікальні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можливості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формування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громадської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думки,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привертання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уваги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суспільства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одних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питань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ігнорування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інших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поширення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подекуди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й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творення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його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ідеалів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цінностей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5447072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446</TotalTime>
  <Words>657</Words>
  <Application>Microsoft Office PowerPoint</Application>
  <PresentationFormat>Широкий екран</PresentationFormat>
  <Paragraphs>50</Paragraphs>
  <Slides>11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20" baseType="lpstr">
      <vt:lpstr>Arial</vt:lpstr>
      <vt:lpstr>Calibri</vt:lpstr>
      <vt:lpstr>Century Gothic</vt:lpstr>
      <vt:lpstr>FreeSetBoldC</vt:lpstr>
      <vt:lpstr>Impact</vt:lpstr>
      <vt:lpstr>MyriadPro-Bold</vt:lpstr>
      <vt:lpstr>Times New Roman</vt:lpstr>
      <vt:lpstr>Wingdings 3</vt:lpstr>
      <vt:lpstr>Легкий дым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уроку: Японія у ІІ половині ХХ- на початку ХХІ ст.</dc:title>
  <dc:creator>Санек</dc:creator>
  <cp:lastModifiedBy>A S U S</cp:lastModifiedBy>
  <cp:revision>38</cp:revision>
  <dcterms:created xsi:type="dcterms:W3CDTF">2020-04-27T05:32:37Z</dcterms:created>
  <dcterms:modified xsi:type="dcterms:W3CDTF">2026-10-18T21:03:11Z</dcterms:modified>
</cp:coreProperties>
</file>